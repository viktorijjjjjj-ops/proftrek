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21792"/>
            <a:ext cx="685800" cy="685800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813816"/>
            <a:ext cx="45720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17233B"/>
                </a:solidFill>
                <a:latin typeface="Arial"/>
              </a:defRPr>
            </a:pPr>
            <a:r>
              <a:t>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704088"/>
            <a:ext cx="292608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F2C25B"/>
                </a:solidFill>
                <a:latin typeface="Arial"/>
              </a:defRPr>
            </a:pPr>
            <a:r>
              <a:t>СОЦИАЛЬНЫЙ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858000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51760"/>
            <a:ext cx="6858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F2C25B"/>
                </a:solidFill>
                <a:latin typeface="Arial"/>
              </a:defRPr>
            </a:pPr>
            <a:r>
              <a:t>От диплома к профессии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69494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rial"/>
              </a:defRPr>
            </a:pPr>
            <a:r>
              <a:t>Выпускники СПО для кадровой потребности</a:t>
            </a:r>
            <a:br/>
            <a:r>
              <a:t>экономики Луганской Народной Республики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7132320" cy="960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Arial"/>
              </a:defRPr>
            </a:pPr>
            <a:r>
              <a:t>Кулешова Виктория Геннадьевна</a:t>
            </a:r>
            <a:br/>
            <a:r>
              <a:t>При участии Базового центра карьеры Минобрнауки ЛНР и Совета по социальному партнёрству</a:t>
            </a:r>
            <a:br/>
            <a:r>
              <a:t>Луганская Народная Республика •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40"/>
            <a:ext cx="2971800" cy="4069080"/>
          </a:xfrm>
          <a:prstGeom prst="roundRect">
            <a:avLst/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938528"/>
            <a:ext cx="20116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560320"/>
            <a:ext cx="2011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E4EEFB"/>
                </a:solidFill>
                <a:latin typeface="Arial"/>
              </a:defRPr>
            </a:pPr>
            <a:r>
              <a:t>участников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246120"/>
            <a:ext cx="20116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3400" b="1">
                <a:solidFill>
                  <a:srgbClr val="F2C25B"/>
                </a:solidFill>
                <a:latin typeface="Arial"/>
              </a:defRPr>
            </a:pPr>
            <a:r>
              <a:t>70+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858768"/>
            <a:ext cx="23774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E4EEFB"/>
                </a:solidFill>
                <a:latin typeface="Arial"/>
              </a:defRPr>
            </a:pPr>
            <a:r>
              <a:t>трудоустроенных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90288"/>
            <a:ext cx="22860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12 месяцев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956048"/>
            <a:ext cx="22860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E4EEFB"/>
                </a:solidFill>
                <a:latin typeface="Arial"/>
              </a:defRPr>
            </a:pPr>
            <a:r>
              <a:t>сопровождения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Экономике региона нужны квалифицированные кадры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t>Необходимо связать профессию выпускника с реальной кадровой заявкой предприятия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0">
                <a:solidFill>
                  <a:srgbClr val="1B2433"/>
                </a:solidFill>
                <a:latin typeface="Arial"/>
              </a:defRPr>
            </a:pPr>
            <a:r>
              <a:t>Предприятия ЛНР сообщают о потребности в молодых квалифицированных работниках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52344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79191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0">
                <a:solidFill>
                  <a:srgbClr val="1B2433"/>
                </a:solidFill>
                <a:latin typeface="Arial"/>
              </a:defRPr>
            </a:pPr>
            <a:r>
              <a:t>Выпускник не всегда выходит на место, соответствующее его профессии или специальности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65576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92424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0">
                <a:solidFill>
                  <a:srgbClr val="1B2433"/>
                </a:solidFill>
                <a:latin typeface="Arial"/>
              </a:defRPr>
            </a:pPr>
            <a:r>
              <a:t>Кадровые заявки, подготовка и трудоустройство пока недостаточно связаны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78808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05656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0">
                <a:solidFill>
                  <a:srgbClr val="1B2433"/>
                </a:solidFill>
                <a:latin typeface="Arial"/>
              </a:defRPr>
            </a:pPr>
            <a:r>
              <a:t>Без наставника возрастает риск раннего увольнения и ухода из профессии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18888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0">
                <a:solidFill>
                  <a:srgbClr val="1B2433"/>
                </a:solidFill>
                <a:latin typeface="Arial"/>
              </a:defRPr>
            </a:pPr>
            <a:r>
              <a:t>Региону нужен единый механизм подбора и закрепления выпускников СПО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Закрыть кадровую потребность выпускниками СПО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t>Кадровая заявка → подготовленный выпускник → предприятие → закрепление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1234440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39696"/>
            <a:ext cx="1014984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Создать систему адресной подготовки и трудоустройства 100 выпускников СПО на востребованные рабочие места предприятий ЛНР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93192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2D66B3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50799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индивидуальных маршрутов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37947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93192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F2C25B"/>
                </a:solidFill>
                <a:latin typeface="Arial"/>
              </a:defRPr>
            </a:pPr>
            <a:r>
              <a:t>70+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50799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трудоустроенных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37947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393192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2D66B3"/>
                </a:solidFill>
                <a:latin typeface="Arial"/>
              </a:defRPr>
            </a:pPr>
            <a:r>
              <a:t>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450799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работодателей-партнёров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37947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393192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F2C25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450799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месяцев мониторинга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Исключительно выпускники СПО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t>Студент входит в проект на выпускном курсе как будущий выпускник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36499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438912" cy="438912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95144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17233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2834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900" b="1">
                <a:solidFill>
                  <a:srgbClr val="17233B"/>
                </a:solidFill>
                <a:latin typeface="Arial"/>
              </a:defRPr>
            </a:pPr>
            <a:r>
              <a:t>Профессия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2852928" cy="1188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1B2433"/>
                </a:solidFill>
                <a:latin typeface="Arial"/>
              </a:defRPr>
            </a:pPr>
            <a:r>
              <a:t>Выпускник получил конкретную квалификацию в техникуме или колледже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36499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194560"/>
            <a:ext cx="438912" cy="438912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295144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17233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52928"/>
            <a:ext cx="2834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900" b="1">
                <a:solidFill>
                  <a:srgbClr val="17233B"/>
                </a:solidFill>
                <a:latin typeface="Arial"/>
              </a:defRPr>
            </a:pPr>
            <a:r>
              <a:t>Кадровый спрос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29000"/>
            <a:ext cx="2852928" cy="1188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1B2433"/>
                </a:solidFill>
                <a:latin typeface="Arial"/>
              </a:defRPr>
            </a:pPr>
            <a:r>
              <a:t>Профессия сопоставляется с реальной потребностью предприятий региона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965960"/>
            <a:ext cx="3364992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2194560"/>
            <a:ext cx="438912" cy="438912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295144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17233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52928"/>
            <a:ext cx="2834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900" b="1">
                <a:solidFill>
                  <a:srgbClr val="17233B"/>
                </a:solidFill>
                <a:latin typeface="Arial"/>
              </a:defRPr>
            </a:pPr>
            <a:r>
              <a:t>Рабочее место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29000"/>
            <a:ext cx="2852928" cy="1188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1B2433"/>
                </a:solidFill>
                <a:latin typeface="Arial"/>
              </a:defRPr>
            </a:pPr>
            <a:r>
              <a:t>Результат — трудоустройство по профилю и устойчивое закрепление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МЕХАНИЗМ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Восемь шагов профессионального маршрута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000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Регистрация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98424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35000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Диагностика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8424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35000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Маршрут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82880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98424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35000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Подготовка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67588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04164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Вакансия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52044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367588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404164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Работа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2044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367588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04164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Адаптация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3520440"/>
            <a:ext cx="245059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3675888"/>
            <a:ext cx="457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D66B3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4041648"/>
            <a:ext cx="2057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17233B"/>
                </a:solidFill>
                <a:latin typeface="Arial"/>
              </a:defRPr>
            </a:pPr>
            <a:r>
              <a:t>Закрепление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ПОДГОТОВКА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Навыки для уверенного выхода на рынок труда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B2433"/>
                </a:solidFill>
                <a:latin typeface="Arial"/>
              </a:defRPr>
            </a:pPr>
            <a:r>
              <a:t>Диагностика профессиональных интересов и факторов риска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32888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59736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B2433"/>
                </a:solidFill>
                <a:latin typeface="Arial"/>
              </a:defRPr>
            </a:pPr>
            <a:r>
              <a:t>Индивидуальный план действий и подбор подходящих предприятий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63824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B2433"/>
                </a:solidFill>
                <a:latin typeface="Arial"/>
              </a:defRPr>
            </a:pPr>
            <a:r>
              <a:t>Резюме, сопроводительное письмо и проверка вакансий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21608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B2433"/>
                </a:solidFill>
                <a:latin typeface="Arial"/>
              </a:defRPr>
            </a:pPr>
            <a:r>
              <a:t>Тренировочное собеседование и деловая коммуникация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25696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52544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B2433"/>
                </a:solidFill>
                <a:latin typeface="Arial"/>
              </a:defRPr>
            </a:pPr>
            <a:r>
              <a:t>Трудовое законодательство и финансовая грамотность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56631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79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B2433"/>
                </a:solidFill>
                <a:latin typeface="Arial"/>
              </a:defRPr>
            </a:pPr>
            <a:r>
              <a:t>Ярмарка вакансий, экскурсии и профессиональные пробы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ПЕРВОЕ РАБОЧЕЕ МЕСТО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Адаптационная карта на 90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t>Куратор колледжа и наставник предприятия действуют совместно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2468880" cy="65836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103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17233B"/>
                </a:solidFill>
                <a:latin typeface="Arial"/>
              </a:defRPr>
            </a:pPr>
            <a:r>
              <a:t>1-я неделя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0116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1B2433"/>
                </a:solidFill>
                <a:latin typeface="Arial"/>
              </a:defRPr>
            </a:pPr>
            <a:r>
              <a:t>Знакомство с местом, коллективом, правилами и безопасностью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468880" cy="658368"/>
          </a:xfrm>
          <a:prstGeom prst="roundRect">
            <a:avLst/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194560"/>
            <a:ext cx="2103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1-й месяц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63240"/>
            <a:ext cx="20116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1B2433"/>
                </a:solidFill>
                <a:latin typeface="Arial"/>
              </a:defRPr>
            </a:pPr>
            <a:r>
              <a:t>Освоение базовых операций под контролем наставника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1168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011680"/>
            <a:ext cx="2468880" cy="658368"/>
          </a:xfrm>
          <a:prstGeom prst="roundRect">
            <a:avLst/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103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2-й месяц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20116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1B2433"/>
                </a:solidFill>
                <a:latin typeface="Arial"/>
              </a:defRPr>
            </a:pPr>
            <a:r>
              <a:t>Самостоятельное выполнение типовых рабочих задач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01168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2011680"/>
            <a:ext cx="2468880" cy="658368"/>
          </a:xfrm>
          <a:prstGeom prst="roundRect">
            <a:avLst/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194560"/>
            <a:ext cx="2103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3-й месяц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63240"/>
            <a:ext cx="20116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1B2433"/>
                </a:solidFill>
                <a:latin typeface="Arial"/>
              </a:defRPr>
            </a:pPr>
            <a:r>
              <a:t>Оценка результатов и план дальнейшего развития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ПАРТНЁРСТВО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Кто и за что отвечает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t>Центр карьеры колледжа и Базовый центр карьеры выполняют разные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606040" cy="640080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Центр карьеры ПОО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92807"/>
            <a:ext cx="74066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Структурное подразделение колледжа: работает со своими студентами и выпускниками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9191"/>
            <a:ext cx="2606040" cy="640080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7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Базовый центр карьеры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74066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Региональный координатор: помогает сети, но не заменяет центры колледжей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4"/>
            <a:ext cx="2606040" cy="640080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Совет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85032"/>
            <a:ext cx="74066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Работодатели, кадровые приоритеты и снятие межведомственных барьеров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71416"/>
            <a:ext cx="2606040" cy="640080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Работодатели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581144"/>
            <a:ext cx="74066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Вакансии, стажировки, трудоустройство, наставники и обратная связь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67528"/>
            <a:ext cx="2606040" cy="640080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41264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Служба занятости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477256"/>
            <a:ext cx="74066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Работает со всеми гражданами; в проекте предоставляет данные и меры поддержки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ОТЛИЧИЕ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Специализированная система для выпускников СПО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t>Центры занятости работают со всеми гражданами, «ПрофТрек» — только с выпускниками СПО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965960" cy="640080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Обычно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892807"/>
            <a:ext cx="804672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Информирование, мероприятия и фиксация факта трудоустройства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9191"/>
            <a:ext cx="1965960" cy="640080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7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88920"/>
            <a:ext cx="804672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Профессия выпускника сопоставляется с кадровой заявкой предприятия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4"/>
            <a:ext cx="1965960" cy="640080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685032"/>
            <a:ext cx="804672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Кадровая заявка закрыта, выпускник закрепился через 3, 6 и 12 месяцев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71416"/>
            <a:ext cx="1965960" cy="640080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После выхода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581144"/>
            <a:ext cx="804672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Наставник, карта адаптации на 90 дней и помощь при риске увольнения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67528"/>
            <a:ext cx="1965960" cy="640080"/>
          </a:xfrm>
          <a:prstGeom prst="roundRect">
            <a:avLst/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41264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17233B"/>
                </a:solidFill>
                <a:latin typeface="Arial"/>
              </a:defRPr>
            </a:pPr>
            <a:r>
              <a:t>Ответственность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477256"/>
            <a:ext cx="804672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Колледж сопровождает, Базовый центр координирует, Совет объединяет партнёров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ЦИФРОВОЙ КОНТУР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rPr>
                <a:solidFill/>
              </a:rPr>
              <a:t>Реестр сопровождения «ПрофТрек»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758196"/>
                </a:solidFill>
                <a:latin typeface="Arial"/>
              </a:defRPr>
            </a:pPr>
            <a:r>
              <a:rPr>
                <a:solidFill/>
              </a:rPr>
              <a:t>Данные превращаются в конкретные действия куратора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rPr>
                <a:solidFill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rPr>
                <a:solidFill/>
              </a:rPr>
              <a:t>ПРОФТРЕК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56231"/>
            <a:ext cx="6766560" cy="3520440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31343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585216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rPr>
                <a:solidFill/>
              </a:rPr>
              <a:t>Карточки выпускников и уровни риска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86207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788920"/>
            <a:ext cx="585216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rPr>
                <a:solidFill/>
              </a:rPr>
              <a:t>Индивидуальные планы и история сопровождения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41071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337560"/>
            <a:ext cx="585216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rPr>
                <a:solidFill/>
              </a:rPr>
              <a:t>База работодателей, вакансий и стажировок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5935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886200"/>
            <a:ext cx="585216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rPr>
                <a:solidFill/>
              </a:rPr>
              <a:t>Напоминания о контрольных точках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50799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434840"/>
            <a:ext cx="585216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rPr>
                <a:solidFill/>
              </a:rPr>
              <a:t>Обезличенная аналитика результатов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011679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2D66B3"/>
                </a:solidFill>
                <a:latin typeface="Arial"/>
              </a:defRPr>
            </a:pPr>
            <a:r>
              <a:t>1 / 3 / 6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58775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контрольные месяцы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364992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502152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F2C25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078224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уровня риска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КАЛЕНДАРЬ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Основной этап и мониторинг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240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42032"/>
            <a:ext cx="169164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6B3"/>
                </a:solidFill>
                <a:latin typeface="Arial"/>
              </a:defRPr>
            </a:pPr>
            <a:r>
              <a:t>Сен–окт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82112"/>
            <a:ext cx="16002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0">
                <a:solidFill>
                  <a:srgbClr val="1B2433"/>
                </a:solidFill>
                <a:latin typeface="Arial"/>
              </a:defRPr>
            </a:pPr>
            <a:r>
              <a:t>Набор, исследование, партнёры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2240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2542032"/>
            <a:ext cx="169164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6B3"/>
                </a:solidFill>
                <a:latin typeface="Arial"/>
              </a:defRPr>
            </a:pPr>
            <a:r>
              <a:t>Окт–ноя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182112"/>
            <a:ext cx="16002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0">
                <a:solidFill>
                  <a:srgbClr val="1B2433"/>
                </a:solidFill>
                <a:latin typeface="Arial"/>
              </a:defRPr>
            </a:pPr>
            <a:r>
              <a:t>Диагностика и маршруты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2240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2542032"/>
            <a:ext cx="169164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6B3"/>
                </a:solidFill>
                <a:latin typeface="Arial"/>
              </a:defRPr>
            </a:pPr>
            <a:r>
              <a:t>Ноя–мар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182112"/>
            <a:ext cx="16002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0">
                <a:solidFill>
                  <a:srgbClr val="1B2433"/>
                </a:solidFill>
                <a:latin typeface="Arial"/>
              </a:defRPr>
            </a:pPr>
            <a:r>
              <a:t>Тренинги и интервью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240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2542032"/>
            <a:ext cx="169164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6B3"/>
                </a:solidFill>
                <a:latin typeface="Arial"/>
              </a:defRPr>
            </a:pPr>
            <a:r>
              <a:t>Мар–авг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182112"/>
            <a:ext cx="16002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0">
                <a:solidFill>
                  <a:srgbClr val="1B2433"/>
                </a:solidFill>
                <a:latin typeface="Arial"/>
              </a:defRPr>
            </a:pPr>
            <a:r>
              <a:t>Подбор и трудоустройство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240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542032"/>
            <a:ext cx="169164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6B3"/>
                </a:solidFill>
                <a:latin typeface="Arial"/>
              </a:defRPr>
            </a:pPr>
            <a:r>
              <a:t>До авг 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182112"/>
            <a:ext cx="160020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0">
                <a:solidFill>
                  <a:srgbClr val="1B2433"/>
                </a:solidFill>
                <a:latin typeface="Arial"/>
              </a:defRPr>
            </a:pPr>
            <a:r>
              <a:t>Мониторинг закрепления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0640"/>
            <a:ext cx="6400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7233B"/>
                </a:solidFill>
                <a:latin typeface="Arial"/>
              </a:defRPr>
            </a:pPr>
            <a:r>
              <a:t>Основной этап: сентябрь 2026 — август 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Измеримые показатели пилота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2D66B3"/>
                </a:solidFill>
                <a:latin typeface="Arial"/>
              </a:defRPr>
            </a:pPr>
            <a: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подготовили резюме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F2C25B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4203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прошли тренировочное интервью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8288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96596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2D66B3"/>
                </a:solidFill>
                <a:latin typeface="Arial"/>
              </a:defRPr>
            </a:pPr>
            <a:r>
              <a:t>70+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54203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трудоустроены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8288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965960"/>
            <a:ext cx="21488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F2C25B"/>
                </a:solidFill>
                <a:latin typeface="Arial"/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542032"/>
            <a:ext cx="21488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758196"/>
                </a:solidFill>
                <a:latin typeface="Arial"/>
              </a:defRPr>
            </a:pPr>
            <a:r>
              <a:t>закрывают кадровую потребность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10652760" cy="1325880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1828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800" b="1">
                <a:solidFill>
                  <a:srgbClr val="F2C25B"/>
                </a:solidFill>
                <a:latin typeface="Arial"/>
              </a:defRPr>
            </a:pPr>
            <a:r>
              <a:t>≥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968496"/>
            <a:ext cx="80467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сохраняют занятость через 12 месяцев среди участников, достигших контрольной точки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3327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2D66B3"/>
                </a:solidFill>
                <a:latin typeface="Arial"/>
              </a:defRPr>
            </a:pPr>
            <a:r>
              <a:t>5+ центров карьеры  •  20+ работодателей  •  25+ наставников  •  100+ вакансий и стажировок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КАДРОВЫЙ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Как закрывается потребность экономики региона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874519"/>
            <a:ext cx="24871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5029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D66B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0574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1">
                <a:solidFill>
                  <a:srgbClr val="17233B"/>
                </a:solidFill>
                <a:latin typeface="Arial"/>
              </a:defRPr>
            </a:pPr>
            <a:r>
              <a:t>Заявка предприятия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2057400" cy="1051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Профессия, количество работников, компетенции и срок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74519"/>
            <a:ext cx="24871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21408"/>
            <a:ext cx="5029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D66B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0574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1">
                <a:solidFill>
                  <a:srgbClr val="17233B"/>
                </a:solidFill>
                <a:latin typeface="Arial"/>
              </a:defRPr>
            </a:pPr>
            <a:r>
              <a:t>Сопоставление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057400" cy="1051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Базовый центр и центры ПОО находят подходящих выпускников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74519"/>
            <a:ext cx="24871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21408"/>
            <a:ext cx="5029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D66B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20574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1">
                <a:solidFill>
                  <a:srgbClr val="17233B"/>
                </a:solidFill>
                <a:latin typeface="Arial"/>
              </a:defRPr>
            </a:pPr>
            <a:r>
              <a:t>Подготовка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74720"/>
            <a:ext cx="2057400" cy="1051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Практика, профессиональная проба и подготовка к отбору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1874519"/>
            <a:ext cx="24871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121408"/>
            <a:ext cx="5029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D66B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97480"/>
            <a:ext cx="20574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1">
                <a:solidFill>
                  <a:srgbClr val="17233B"/>
                </a:solidFill>
                <a:latin typeface="Arial"/>
              </a:defRPr>
            </a:pPr>
            <a:r>
              <a:t>Закрепление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474720"/>
            <a:ext cx="2057400" cy="1051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1B2433"/>
                </a:solidFill>
                <a:latin typeface="Arial"/>
              </a:defRPr>
            </a:pPr>
            <a:r>
              <a:t>Трудоустройство, наставник и контроль 3, 6 и 12 месяцев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5156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2D66B3"/>
                </a:solidFill>
                <a:latin typeface="Arial"/>
              </a:defRPr>
            </a:pPr>
            <a:r>
              <a:t>Итог: выпускник работает по профессии, кадровая заявка предприятия закрыта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4"/>
            <a:ext cx="80467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D66B3"/>
                </a:solidFill>
                <a:latin typeface="Arial"/>
              </a:defRPr>
            </a:pPr>
            <a:r>
              <a:t>УСТОЙЧИВОСТЬ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700" b="1">
                <a:solidFill>
                  <a:srgbClr val="17233B"/>
                </a:solidFill>
                <a:latin typeface="Arial"/>
              </a:defRPr>
            </a:pPr>
            <a:r>
              <a:t>Что останется после завершения пилота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000" b="1">
                <a:solidFill>
                  <a:srgbClr val="75819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2D66B3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56231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t>Единый маршрут включён в постоянную работу центров карьеры ПОО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t>Базовый центр карьеры продолжает координацию и мониторинг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81528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t>Совет ежегодно рассматривает результаты и кадровые приоритеты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94176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21024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t>Сформированы база работодателей и сеть наставников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06824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t>Используются цифровой реестр, формы маршрутов и мониторинга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19472"/>
            <a:ext cx="109728" cy="109728"/>
          </a:xfrm>
          <a:prstGeom prst="roundRect">
            <a:avLst/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1024128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500" b="0">
                <a:solidFill>
                  <a:srgbClr val="1B2433"/>
                </a:solidFill>
                <a:latin typeface="Arial"/>
              </a:defRPr>
            </a:pPr>
            <a:r>
              <a:t>Модель тиражируется в других организациях СПО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98448"/>
            <a:ext cx="1069848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ПрофТрек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331720"/>
            <a:ext cx="969264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500" b="1">
                <a:solidFill>
                  <a:srgbClr val="F2C25B"/>
                </a:solidFill>
                <a:latin typeface="Arial"/>
              </a:defRPr>
            </a:pPr>
            <a:r>
              <a:t>Выпускник СПО — кадровый потенциал</a:t>
            </a:r>
            <a:br/>
            <a:r>
              <a:t>экономики региона.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4041648"/>
            <a:ext cx="2029968" cy="658368"/>
          </a:xfrm>
          <a:prstGeom prst="roundRect">
            <a:avLst/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4233672"/>
            <a:ext cx="184708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23560"/>
            <a:ext cx="6675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BBC7D9"/>
                </a:solidFill>
                <a:latin typeface="Arial"/>
              </a:defRPr>
            </a:pPr>
            <a:r>
              <a:t>Кулешова Виктория Геннадьевна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