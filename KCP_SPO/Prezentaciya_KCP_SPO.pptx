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7233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11480"/>
            <a:ext cx="3657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F2C25B"/>
                </a:solidFill>
                <a:latin typeface="Arial"/>
              </a:defRPr>
            </a:pPr>
            <a:r>
              <a:t>КЦП СПО  /  01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417320"/>
            <a:ext cx="1078992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400" b="1">
                <a:solidFill>
                  <a:srgbClr val="FFFFFF"/>
                </a:solidFill>
                <a:latin typeface="Arial"/>
              </a:defRPr>
            </a:pPr>
            <a:r>
              <a:t>КЦП СПО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" y="2880360"/>
            <a:ext cx="987552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0">
                <a:solidFill>
                  <a:srgbClr val="FFFFFF"/>
                </a:solidFill>
                <a:latin typeface="Arial"/>
              </a:defRPr>
            </a:pPr>
            <a:r>
              <a:t>Цифровая платформа формирования и согласования контрольных цифр приема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85800" y="6080760"/>
            <a:ext cx="7315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0">
                <a:solidFill>
                  <a:srgbClr val="B5C2D6"/>
                </a:solidFill>
                <a:latin typeface="Arial"/>
              </a:defRPr>
            </a:pPr>
            <a:r>
              <a:t>Платформа для доказательного формирования приема СПО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7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11480"/>
            <a:ext cx="3657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F2C25B"/>
                </a:solidFill>
                <a:latin typeface="Arial"/>
              </a:defRPr>
            </a:pPr>
            <a:r>
              <a:t>КЦП СПО  /  02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417320"/>
            <a:ext cx="1078992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000" b="1">
                <a:solidFill>
                  <a:srgbClr val="17233B"/>
                </a:solidFill>
                <a:latin typeface="Arial"/>
              </a:defRPr>
            </a:pPr>
            <a:r>
              <a:t>Проблема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" y="2880360"/>
            <a:ext cx="987552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000" b="0">
                <a:solidFill>
                  <a:srgbClr val="34435C"/>
                </a:solidFill>
                <a:latin typeface="Arial"/>
              </a:defRPr>
            </a:pPr>
            <a:r>
              <a:t>Разрозненные данные, ручная консолидация, непрозрачные основания решений и сложный контроль сроков.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85800" y="6080760"/>
            <a:ext cx="7315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0">
                <a:solidFill>
                  <a:srgbClr val="718096"/>
                </a:solidFill>
                <a:latin typeface="Arial"/>
              </a:defRPr>
            </a:pPr>
            <a:r>
              <a:t>Платформа для доказательного формирования приема СПО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7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11480"/>
            <a:ext cx="3657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F2C25B"/>
                </a:solidFill>
                <a:latin typeface="Arial"/>
              </a:defRPr>
            </a:pPr>
            <a:r>
              <a:t>КЦП СПО  /  03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417320"/>
            <a:ext cx="1078992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000" b="1">
                <a:solidFill>
                  <a:srgbClr val="17233B"/>
                </a:solidFill>
                <a:latin typeface="Arial"/>
              </a:defRPr>
            </a:pPr>
            <a:r>
              <a:t>Цель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" y="2880360"/>
            <a:ext cx="987552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000" b="0">
                <a:solidFill>
                  <a:srgbClr val="34435C"/>
                </a:solidFill>
                <a:latin typeface="Arial"/>
              </a:defRPr>
            </a:pPr>
            <a:r>
              <a:t>Единый процесс, в котором каждое значение КЦП имеет источник, ответственного, статус проверки и основание.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85800" y="6080760"/>
            <a:ext cx="7315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0">
                <a:solidFill>
                  <a:srgbClr val="718096"/>
                </a:solidFill>
                <a:latin typeface="Arial"/>
              </a:defRPr>
            </a:pPr>
            <a:r>
              <a:t>Платформа для доказательного формирования приема СПО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7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11480"/>
            <a:ext cx="3657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F2C25B"/>
                </a:solidFill>
                <a:latin typeface="Arial"/>
              </a:defRPr>
            </a:pPr>
            <a:r>
              <a:t>КЦП СПО  /  04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417320"/>
            <a:ext cx="1078992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000" b="1">
                <a:solidFill>
                  <a:srgbClr val="17233B"/>
                </a:solidFill>
                <a:latin typeface="Arial"/>
              </a:defRPr>
            </a:pPr>
            <a:r>
              <a:t>Участники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" y="2880360"/>
            <a:ext cx="987552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000" b="0">
                <a:solidFill>
                  <a:srgbClr val="34435C"/>
                </a:solidFill>
                <a:latin typeface="Arial"/>
              </a:defRPr>
            </a:pPr>
            <a:r>
              <a:t>Орган управления образованием • ПОО • работодатели • эксперты • финансовый блок • руководящий комитет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85800" y="6080760"/>
            <a:ext cx="7315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0">
                <a:solidFill>
                  <a:srgbClr val="718096"/>
                </a:solidFill>
                <a:latin typeface="Arial"/>
              </a:defRPr>
            </a:pPr>
            <a:r>
              <a:t>Платформа для доказательного формирования приема СПО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7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11480"/>
            <a:ext cx="3657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F2C25B"/>
                </a:solidFill>
                <a:latin typeface="Arial"/>
              </a:defRPr>
            </a:pPr>
            <a:r>
              <a:t>КЦП СПО  /  05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417320"/>
            <a:ext cx="1078992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000" b="1">
                <a:solidFill>
                  <a:srgbClr val="17233B"/>
                </a:solidFill>
                <a:latin typeface="Arial"/>
              </a:defRPr>
            </a:pPr>
            <a:r>
              <a:t>Сквозной маршрут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" y="2880360"/>
            <a:ext cx="987552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000" b="0">
                <a:solidFill>
                  <a:srgbClr val="34435C"/>
                </a:solidFill>
                <a:latin typeface="Arial"/>
              </a:defRPr>
            </a:pPr>
            <a:r>
              <a:t>Кампания → заявка → кадровое обоснование → проверки → экспертиза → свод → согласование → утверждение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85800" y="6080760"/>
            <a:ext cx="7315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0">
                <a:solidFill>
                  <a:srgbClr val="718096"/>
                </a:solidFill>
                <a:latin typeface="Arial"/>
              </a:defRPr>
            </a:pPr>
            <a:r>
              <a:t>Платформа для доказательного формирования приема СПО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7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11480"/>
            <a:ext cx="3657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F2C25B"/>
                </a:solidFill>
                <a:latin typeface="Arial"/>
              </a:defRPr>
            </a:pPr>
            <a:r>
              <a:t>КЦП СПО  /  06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417320"/>
            <a:ext cx="1078992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000" b="1">
                <a:solidFill>
                  <a:srgbClr val="17233B"/>
                </a:solidFill>
                <a:latin typeface="Arial"/>
              </a:defRPr>
            </a:pPr>
            <a:r>
              <a:t>Заявка ПОО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" y="2880360"/>
            <a:ext cx="987552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000" b="0">
                <a:solidFill>
                  <a:srgbClr val="34435C"/>
                </a:solidFill>
                <a:latin typeface="Arial"/>
              </a:defRPr>
            </a:pPr>
            <a:r>
              <a:t>Программа, форма обучения, объем приема, мощность, ресурсы и обоснование потребности.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85800" y="6080760"/>
            <a:ext cx="7315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0">
                <a:solidFill>
                  <a:srgbClr val="718096"/>
                </a:solidFill>
                <a:latin typeface="Arial"/>
              </a:defRPr>
            </a:pPr>
            <a:r>
              <a:t>Платформа для доказательного формирования приема СПО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7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11480"/>
            <a:ext cx="3657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F2C25B"/>
                </a:solidFill>
                <a:latin typeface="Arial"/>
              </a:defRPr>
            </a:pPr>
            <a:r>
              <a:t>КЦП СПО  /  07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417320"/>
            <a:ext cx="1078992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000" b="1">
                <a:solidFill>
                  <a:srgbClr val="17233B"/>
                </a:solidFill>
                <a:latin typeface="Arial"/>
              </a:defRPr>
            </a:pPr>
            <a:r>
              <a:t>Контроль качества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" y="2880360"/>
            <a:ext cx="987552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000" b="0">
                <a:solidFill>
                  <a:srgbClr val="34435C"/>
                </a:solidFill>
                <a:latin typeface="Arial"/>
              </a:defRPr>
            </a:pPr>
            <a:r>
              <a:t>Обязательные поля, справочники, лимиты, дубли, подтверждение спроса и история версий.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85800" y="6080760"/>
            <a:ext cx="7315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0">
                <a:solidFill>
                  <a:srgbClr val="718096"/>
                </a:solidFill>
                <a:latin typeface="Arial"/>
              </a:defRPr>
            </a:pPr>
            <a:r>
              <a:t>Платформа для доказательного формирования приема СПО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7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11480"/>
            <a:ext cx="3657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F2C25B"/>
                </a:solidFill>
                <a:latin typeface="Arial"/>
              </a:defRPr>
            </a:pPr>
            <a:r>
              <a:t>КЦП СПО  /  08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417320"/>
            <a:ext cx="1078992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000" b="1">
                <a:solidFill>
                  <a:srgbClr val="17233B"/>
                </a:solidFill>
                <a:latin typeface="Arial"/>
              </a:defRPr>
            </a:pPr>
            <a:r>
              <a:t>Согласование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" y="2880360"/>
            <a:ext cx="987552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000" b="0">
                <a:solidFill>
                  <a:srgbClr val="34435C"/>
                </a:solidFill>
                <a:latin typeface="Arial"/>
              </a:defRPr>
            </a:pPr>
            <a:r>
              <a:t>Ролевые визы, замечания, возврат на доработку, протокол и журнал решений.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85800" y="6080760"/>
            <a:ext cx="7315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0">
                <a:solidFill>
                  <a:srgbClr val="718096"/>
                </a:solidFill>
                <a:latin typeface="Arial"/>
              </a:defRPr>
            </a:pPr>
            <a:r>
              <a:t>Платформа для доказательного формирования приема СПО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7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11480"/>
            <a:ext cx="3657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F2C25B"/>
                </a:solidFill>
                <a:latin typeface="Arial"/>
              </a:defRPr>
            </a:pPr>
            <a:r>
              <a:t>КЦП СПО  /  09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417320"/>
            <a:ext cx="1078992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000" b="1">
                <a:solidFill>
                  <a:srgbClr val="17233B"/>
                </a:solidFill>
                <a:latin typeface="Arial"/>
              </a:defRPr>
            </a:pPr>
            <a:r>
              <a:t>Аналитика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" y="2880360"/>
            <a:ext cx="987552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000" b="0">
                <a:solidFill>
                  <a:srgbClr val="34435C"/>
                </a:solidFill>
                <a:latin typeface="Arial"/>
              </a:defRPr>
            </a:pPr>
            <a:r>
              <a:t>Отрасли, территории, приоритетные профессии, покрытие спроса и динамика кампании.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85800" y="6080760"/>
            <a:ext cx="7315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0">
                <a:solidFill>
                  <a:srgbClr val="718096"/>
                </a:solidFill>
                <a:latin typeface="Arial"/>
              </a:defRPr>
            </a:pPr>
            <a:r>
              <a:t>Платформа для доказательного формирования приема СПО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7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11480"/>
            <a:ext cx="3657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F2C25B"/>
                </a:solidFill>
                <a:latin typeface="Arial"/>
              </a:defRPr>
            </a:pPr>
            <a:r>
              <a:t>КЦП СПО  /  10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417320"/>
            <a:ext cx="1078992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000" b="1">
                <a:solidFill>
                  <a:srgbClr val="17233B"/>
                </a:solidFill>
                <a:latin typeface="Arial"/>
              </a:defRPr>
            </a:pPr>
            <a:r>
              <a:t>Пилот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" y="2880360"/>
            <a:ext cx="987552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000" b="0">
                <a:solidFill>
                  <a:srgbClr val="34435C"/>
                </a:solidFill>
                <a:latin typeface="Arial"/>
              </a:defRPr>
            </a:pPr>
            <a:r>
              <a:t>10 ПОО • 20 работодателей • 1 цикл кампании • 100% заявок через платформу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85800" y="6080760"/>
            <a:ext cx="7315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0">
                <a:solidFill>
                  <a:srgbClr val="718096"/>
                </a:solidFill>
                <a:latin typeface="Arial"/>
              </a:defRPr>
            </a:pPr>
            <a:r>
              <a:t>Платформа для доказательного формирования приема СПО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7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11480"/>
            <a:ext cx="3657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F2C25B"/>
                </a:solidFill>
                <a:latin typeface="Arial"/>
              </a:defRPr>
            </a:pPr>
            <a:r>
              <a:t>КЦП СПО  /  11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417320"/>
            <a:ext cx="1078992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000" b="1">
                <a:solidFill>
                  <a:srgbClr val="17233B"/>
                </a:solidFill>
                <a:latin typeface="Arial"/>
              </a:defRPr>
            </a:pPr>
            <a:r>
              <a:t>Результат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" y="2880360"/>
            <a:ext cx="987552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000" b="0">
                <a:solidFill>
                  <a:srgbClr val="34435C"/>
                </a:solidFill>
                <a:latin typeface="Arial"/>
              </a:defRPr>
            </a:pPr>
            <a:r>
              <a:t>Прозрачное планирование приема, меньше ручной работы и связь структуры подготовки с кадровой потребностью.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85800" y="6080760"/>
            <a:ext cx="7315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0">
                <a:solidFill>
                  <a:srgbClr val="718096"/>
                </a:solidFill>
                <a:latin typeface="Arial"/>
              </a:defRPr>
            </a:pPr>
            <a:r>
              <a:t>Платформа для доказательного формирования приема СПО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7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11480"/>
            <a:ext cx="3657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F2C25B"/>
                </a:solidFill>
                <a:latin typeface="Arial"/>
              </a:defRPr>
            </a:pPr>
            <a:r>
              <a:t>КЦП СПО  /  12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417320"/>
            <a:ext cx="1078992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000" b="1">
                <a:solidFill>
                  <a:srgbClr val="17233B"/>
                </a:solidFill>
                <a:latin typeface="Arial"/>
              </a:defRPr>
            </a:pPr>
            <a:r>
              <a:t>Следующий шаг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" y="2880360"/>
            <a:ext cx="987552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000" b="0">
                <a:solidFill>
                  <a:srgbClr val="34435C"/>
                </a:solidFill>
                <a:latin typeface="Arial"/>
              </a:defRPr>
            </a:pPr>
            <a:r>
              <a:t>Утвердить регламент, настроить справочники, назначить владельцев данных и запустить пилот.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85800" y="6080760"/>
            <a:ext cx="7315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0">
                <a:solidFill>
                  <a:srgbClr val="718096"/>
                </a:solidFill>
                <a:latin typeface="Arial"/>
              </a:defRPr>
            </a:pPr>
            <a:r>
              <a:t>Платформа для доказательного формирования приема СПО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