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3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40080"/>
            <a:ext cx="658368" cy="658368"/>
          </a:xfrm>
          <a:prstGeom prst="roundRect">
            <a:avLst>
              <a:gd name="adj" fmla="val 8000"/>
            </a:avLst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832104"/>
            <a:ext cx="658368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233B"/>
                </a:solidFill>
                <a:latin typeface="Arial"/>
              </a:rPr>
              <a:t>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64208"/>
            <a:ext cx="5029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F2C25B"/>
                </a:solidFill>
                <a:latin typeface="Arial"/>
              </a:rPr>
              <a:t>РЕГИОНАЛЬНЫЙ ПРОЕКТ · ЛНР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93392"/>
            <a:ext cx="7589520" cy="150876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l"/>
            <a:r>
              <a:rPr sz="4200" b="1">
                <a:solidFill>
                  <a:srgbClr val="F2C25B"/>
                </a:solidFill>
                <a:latin typeface="Arial"/>
              </a:rPr>
              <a:t>ПрофТрек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730752"/>
            <a:ext cx="640080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BECDDC"/>
                </a:solidFill>
                <a:latin typeface="Arial"/>
              </a:rPr>
              <a:t>От диплома к профессии
Единая система сопровождения выпускников колледжей
до устойчивого трудоустройства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097280"/>
            <a:ext cx="3017520" cy="4389120"/>
          </a:xfrm>
          <a:prstGeom prst="roundRect">
            <a:avLst>
              <a:gd name="adj" fmla="val 8000"/>
            </a:avLst>
          </a:prstGeom>
          <a:solidFill>
            <a:srgbClr val="1F304E"/>
          </a:solidFill>
          <a:ln>
            <a:solidFill>
              <a:srgbClr val="1F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554480"/>
            <a:ext cx="2377440" cy="6583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800" b="1">
                <a:solidFill>
                  <a:srgbClr val="F2C25B"/>
                </a:solidFill>
                <a:latin typeface="Arial"/>
              </a:rPr>
              <a:t>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212848"/>
            <a:ext cx="23774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колледжей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907792"/>
            <a:ext cx="2377440" cy="6583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800" b="1">
                <a:solidFill>
                  <a:srgbClr val="F2C25B"/>
                </a:solidFill>
                <a:latin typeface="Arial"/>
              </a:rPr>
              <a:t>5 000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3566160"/>
            <a:ext cx="237744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выпускников ежегодно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279392"/>
            <a:ext cx="2377440" cy="6583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800" b="1">
                <a:solidFill>
                  <a:srgbClr val="F2C25B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4919472"/>
            <a:ext cx="23774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единый маршрут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6172200"/>
            <a:ext cx="18288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9AAAC0"/>
                </a:solidFill>
                <a:latin typeface="Arial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0467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2D66B3"/>
                </a:solidFill>
                <a:latin typeface="Arial"/>
              </a:rPr>
              <a:t>КОНТЕКСТ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6984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7233B"/>
                </a:solidFill>
                <a:latin typeface="Arial"/>
              </a:rPr>
              <a:t>Почему проект необходим сейчас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764792"/>
            <a:ext cx="2185416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7233B"/>
                </a:solidFill>
                <a:latin typeface="Arial"/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350008"/>
            <a:ext cx="2185416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57287"/>
                </a:solidFill>
                <a:latin typeface="Arial"/>
              </a:rPr>
              <a:t>колледжей работают разрозненно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60020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47872" y="1764792"/>
            <a:ext cx="2185416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7233B"/>
                </a:solidFill>
                <a:latin typeface="Arial"/>
              </a:rPr>
              <a:t>≈5 000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2350008"/>
            <a:ext cx="2185416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57287"/>
                </a:solidFill>
                <a:latin typeface="Arial"/>
              </a:rPr>
              <a:t>выпускников ежегодно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60020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5352" y="1764792"/>
            <a:ext cx="2185416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7233B"/>
                </a:solidFill>
                <a:latin typeface="Arial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350008"/>
            <a:ext cx="2185416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57287"/>
                </a:solidFill>
                <a:latin typeface="Arial"/>
              </a:rPr>
              <a:t>единых региональных реестров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160020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42832" y="1764792"/>
            <a:ext cx="2185416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7233B"/>
                </a:solidFill>
                <a:latin typeface="Arial"/>
              </a:rPr>
              <a:t>3–12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2832" y="2350008"/>
            <a:ext cx="2185416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57287"/>
                </a:solidFill>
                <a:latin typeface="Arial"/>
              </a:rPr>
              <a:t>месяцев требуется контроль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246120"/>
            <a:ext cx="106070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547872"/>
            <a:ext cx="18288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D96B5D"/>
                </a:solidFill>
                <a:latin typeface="Arial"/>
              </a:rPr>
              <a:t>Сегодня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950208"/>
            <a:ext cx="9966960" cy="1371600"/>
          </a:xfrm>
          <a:prstGeom prst="rect">
            <a:avLst/>
          </a:prstGeom>
          <a:noFill/>
        </p:spPr>
        <p:txBody>
          <a:bodyPr wrap="none" lIns="54864" rIns="27432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7233B"/>
                </a:solidFill>
                <a:latin typeface="Arial"/>
              </a:defRPr>
            </a:pPr>
            <a:r>
              <a:t>•  данные о выпускниках хранятся в разных форматах и быстро устаревают</a:t>
            </a:r>
          </a:p>
          <a:p>
            <a:pPr>
              <a:spcAft>
                <a:spcPts val="700"/>
              </a:spcAft>
              <a:defRPr sz="1400">
                <a:solidFill>
                  <a:srgbClr val="17233B"/>
                </a:solidFill>
                <a:latin typeface="Arial"/>
              </a:defRPr>
            </a:pPr>
            <a:r>
              <a:t>•  группа риска выявляется несвоевременно или по разным критериям</a:t>
            </a:r>
          </a:p>
          <a:p>
            <a:pPr>
              <a:spcAft>
                <a:spcPts val="700"/>
              </a:spcAft>
              <a:defRPr sz="1400">
                <a:solidFill>
                  <a:srgbClr val="17233B"/>
                </a:solidFill>
                <a:latin typeface="Arial"/>
              </a:defRPr>
            </a:pPr>
            <a:r>
              <a:t>•  мероприятия учитываются, но устойчивое трудоустройство подтверждается не всегда</a:t>
            </a:r>
          </a:p>
          <a:p>
            <a:pPr>
              <a:spcAft>
                <a:spcPts val="700"/>
              </a:spcAft>
              <a:defRPr sz="1400">
                <a:solidFill>
                  <a:srgbClr val="17233B"/>
                </a:solidFill>
                <a:latin typeface="Arial"/>
              </a:defRPr>
            </a:pPr>
            <a:r>
              <a:t>•  работодатели не имеют простого канала для передачи предложений выпускникам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510528"/>
            <a:ext cx="3657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1">
                <a:solidFill>
                  <a:srgbClr val="657287"/>
                </a:solidFill>
                <a:latin typeface="Arial"/>
              </a:rPr>
              <a:t>ПРОФТРЕК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57287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3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0467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F2C25B"/>
                </a:solidFill>
                <a:latin typeface="Arial"/>
              </a:rPr>
              <a:t>КЛЮЧЕВАЯ ИДЕЯ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6984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Не агрегатор вакансий, а система результата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448056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B8C6DA"/>
                </a:solidFill>
                <a:latin typeface="Arial"/>
              </a:rPr>
              <a:t>Обычный портал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1600200"/>
            <a:ext cx="45720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F2C25B"/>
                </a:solidFill>
                <a:latin typeface="Arial"/>
              </a:rPr>
              <a:t>ПрофТрек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4434840" cy="530352"/>
          </a:xfrm>
          <a:prstGeom prst="roundRect">
            <a:avLst>
              <a:gd name="adj" fmla="val 8000"/>
            </a:avLst>
          </a:prstGeom>
          <a:solidFill>
            <a:srgbClr val="233453"/>
          </a:solidFill>
          <a:ln>
            <a:solidFill>
              <a:srgbClr val="233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441448"/>
            <a:ext cx="3977639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BECDDC"/>
                </a:solidFill>
                <a:latin typeface="Arial"/>
              </a:rPr>
              <a:t>объявление опубликовано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99232"/>
            <a:ext cx="4434840" cy="530352"/>
          </a:xfrm>
          <a:prstGeom prst="roundRect">
            <a:avLst>
              <a:gd name="adj" fmla="val 8000"/>
            </a:avLst>
          </a:prstGeom>
          <a:solidFill>
            <a:srgbClr val="233453"/>
          </a:solidFill>
          <a:ln>
            <a:solidFill>
              <a:srgbClr val="233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154680"/>
            <a:ext cx="3977639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BECDDC"/>
                </a:solidFill>
                <a:latin typeface="Arial"/>
              </a:rPr>
              <a:t>выпускник ищет самостоятельно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712464"/>
            <a:ext cx="4434840" cy="530352"/>
          </a:xfrm>
          <a:prstGeom prst="roundRect">
            <a:avLst>
              <a:gd name="adj" fmla="val 8000"/>
            </a:avLst>
          </a:prstGeom>
          <a:solidFill>
            <a:srgbClr val="233453"/>
          </a:solidFill>
          <a:ln>
            <a:solidFill>
              <a:srgbClr val="233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867912"/>
            <a:ext cx="3977639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BECDDC"/>
                </a:solidFill>
                <a:latin typeface="Arial"/>
              </a:rPr>
              <a:t>неясно, приступил ли к работе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425696"/>
            <a:ext cx="4434840" cy="530352"/>
          </a:xfrm>
          <a:prstGeom prst="roundRect">
            <a:avLst>
              <a:gd name="adj" fmla="val 8000"/>
            </a:avLst>
          </a:prstGeom>
          <a:solidFill>
            <a:srgbClr val="233453"/>
          </a:solidFill>
          <a:ln>
            <a:solidFill>
              <a:srgbClr val="233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581144"/>
            <a:ext cx="3977639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BECDDC"/>
                </a:solidFill>
                <a:latin typeface="Arial"/>
              </a:rPr>
              <a:t>нет персонального сопровождения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286000"/>
            <a:ext cx="4754880" cy="530352"/>
          </a:xfrm>
          <a:prstGeom prst="roundRect">
            <a:avLst>
              <a:gd name="adj" fmla="val 8000"/>
            </a:avLst>
          </a:prstGeom>
          <a:solidFill>
            <a:srgbClr val="2E4367"/>
          </a:solidFill>
          <a:ln>
            <a:solidFill>
              <a:srgbClr val="2E4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2441448"/>
            <a:ext cx="42519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вакансия проверена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999232"/>
            <a:ext cx="4754880" cy="530352"/>
          </a:xfrm>
          <a:prstGeom prst="roundRect">
            <a:avLst>
              <a:gd name="adj" fmla="val 8000"/>
            </a:avLst>
          </a:prstGeom>
          <a:solidFill>
            <a:srgbClr val="2E4367"/>
          </a:solidFill>
          <a:ln>
            <a:solidFill>
              <a:srgbClr val="2E4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84848" y="3154680"/>
            <a:ext cx="42519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подобраны подходящие выпускники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3712464"/>
            <a:ext cx="4754880" cy="530352"/>
          </a:xfrm>
          <a:prstGeom prst="roundRect">
            <a:avLst>
              <a:gd name="adj" fmla="val 8000"/>
            </a:avLst>
          </a:prstGeom>
          <a:solidFill>
            <a:srgbClr val="2E4367"/>
          </a:solidFill>
          <a:ln>
            <a:solidFill>
              <a:srgbClr val="2E4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8" y="3867912"/>
            <a:ext cx="42519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куратор сопровождает до выхода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425696"/>
            <a:ext cx="4754880" cy="530352"/>
          </a:xfrm>
          <a:prstGeom prst="roundRect">
            <a:avLst>
              <a:gd name="adj" fmla="val 8000"/>
            </a:avLst>
          </a:prstGeom>
          <a:solidFill>
            <a:srgbClr val="2E4367"/>
          </a:solidFill>
          <a:ln>
            <a:solidFill>
              <a:srgbClr val="2E4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84848" y="4581144"/>
            <a:ext cx="42519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результат проверяется через 3, 6 и 12 месяцев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3246120"/>
            <a:ext cx="45720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900" b="1">
                <a:solidFill>
                  <a:srgbClr val="F2C25B"/>
                </a:solidFill>
                <a:latin typeface="Arial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510528"/>
            <a:ext cx="3657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1">
                <a:solidFill>
                  <a:srgbClr val="A7B2C4"/>
                </a:solidFill>
                <a:latin typeface="Arial"/>
              </a:rPr>
              <a:t>ПРОФТРЕК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1">
                <a:solidFill>
                  <a:srgbClr val="A7B2C4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0467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2D66B3"/>
                </a:solidFill>
                <a:latin typeface="Arial"/>
              </a:rPr>
              <a:t>ПРОЕКТНАЯ РАМКА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6984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7233B"/>
                </a:solidFill>
                <a:latin typeface="Arial"/>
              </a:rPr>
              <a:t>Цель и задачи проекта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10789920" cy="960120"/>
          </a:xfrm>
          <a:prstGeom prst="roundRect">
            <a:avLst>
              <a:gd name="adj" fmla="val 8000"/>
            </a:avLst>
          </a:prstGeom>
          <a:solidFill>
            <a:srgbClr val="17233B"/>
          </a:solidFill>
          <a:ln>
            <a:solidFill>
              <a:srgbClr val="17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55648"/>
            <a:ext cx="10241280" cy="49377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Создать единую региональную систему выявления, сопровождения и трудоустройства выпускников колледжей, особенно находящихся под риском нетрудоустройства.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88920"/>
            <a:ext cx="342900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2953512"/>
            <a:ext cx="438912" cy="438912"/>
          </a:xfrm>
          <a:prstGeom prst="roundRect">
            <a:avLst>
              <a:gd name="adj" fmla="val 8000"/>
            </a:avLst>
          </a:prstGeom>
          <a:solidFill>
            <a:srgbClr val="2D66B3"/>
          </a:solidFill>
          <a:ln>
            <a:solidFill>
              <a:srgbClr val="2D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3008376"/>
            <a:ext cx="438912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547872"/>
            <a:ext cx="3099816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7233B"/>
                </a:solidFill>
                <a:latin typeface="Arial"/>
              </a:rPr>
              <a:t>Единый реестр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4023360"/>
            <a:ext cx="3099816" cy="-164591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57287"/>
                </a:solidFill>
                <a:latin typeface="Arial"/>
              </a:rPr>
              <a:t>Колледж, профессия, статус и история сопровождения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2788920"/>
            <a:ext cx="342900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26279" y="2953512"/>
            <a:ext cx="438912" cy="438912"/>
          </a:xfrm>
          <a:prstGeom prst="roundRect">
            <a:avLst>
              <a:gd name="adj" fmla="val 8000"/>
            </a:avLst>
          </a:prstGeom>
          <a:solidFill>
            <a:srgbClr val="2D66B3"/>
          </a:solidFill>
          <a:ln>
            <a:solidFill>
              <a:srgbClr val="2D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79" y="3008376"/>
            <a:ext cx="438912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3547872"/>
            <a:ext cx="3099816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7233B"/>
                </a:solidFill>
                <a:latin typeface="Arial"/>
              </a:rPr>
              <a:t>Оценка риска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4023360"/>
            <a:ext cx="3099816" cy="-164591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57287"/>
                </a:solidFill>
                <a:latin typeface="Arial"/>
              </a:rPr>
              <a:t>Единые критерии и приоритетная работа с красной группой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7575" y="2788920"/>
            <a:ext cx="342900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02167" y="2953512"/>
            <a:ext cx="438912" cy="438912"/>
          </a:xfrm>
          <a:prstGeom prst="roundRect">
            <a:avLst>
              <a:gd name="adj" fmla="val 8000"/>
            </a:avLst>
          </a:prstGeom>
          <a:solidFill>
            <a:srgbClr val="D96B5D"/>
          </a:solidFill>
          <a:ln>
            <a:solidFill>
              <a:srgbClr val="D96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7" y="3008376"/>
            <a:ext cx="438912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7" y="3547872"/>
            <a:ext cx="3099816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7233B"/>
                </a:solidFill>
                <a:latin typeface="Arial"/>
              </a:rPr>
              <a:t>Персональный маршрут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7" y="4023360"/>
            <a:ext cx="3099816" cy="-164591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57287"/>
                </a:solidFill>
                <a:latin typeface="Arial"/>
              </a:rPr>
              <a:t>Куратор, план, сроки и подтвержденные результаты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206240"/>
            <a:ext cx="342900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0392" y="4370831"/>
            <a:ext cx="438912" cy="438912"/>
          </a:xfrm>
          <a:prstGeom prst="roundRect">
            <a:avLst>
              <a:gd name="adj" fmla="val 8000"/>
            </a:avLst>
          </a:prstGeom>
          <a:solidFill>
            <a:srgbClr val="2D66B3"/>
          </a:solidFill>
          <a:ln>
            <a:solidFill>
              <a:srgbClr val="2D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425696"/>
            <a:ext cx="438912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4965192"/>
            <a:ext cx="3099816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7233B"/>
                </a:solidFill>
                <a:latin typeface="Arial"/>
              </a:rPr>
              <a:t>Карьерные возможности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5440679"/>
            <a:ext cx="3099816" cy="-164591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57287"/>
                </a:solidFill>
                <a:latin typeface="Arial"/>
              </a:rPr>
              <a:t>Проверенные вакансии, стажировки и обучение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61688" y="4206240"/>
            <a:ext cx="342900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26279" y="4370831"/>
            <a:ext cx="438912" cy="438912"/>
          </a:xfrm>
          <a:prstGeom prst="roundRect">
            <a:avLst>
              <a:gd name="adj" fmla="val 8000"/>
            </a:avLst>
          </a:prstGeom>
          <a:solidFill>
            <a:srgbClr val="2D66B3"/>
          </a:solidFill>
          <a:ln>
            <a:solidFill>
              <a:srgbClr val="2D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79" y="4425696"/>
            <a:ext cx="438912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79" y="4965192"/>
            <a:ext cx="3099816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7233B"/>
                </a:solidFill>
                <a:latin typeface="Arial"/>
              </a:rPr>
              <a:t>Региональная аналитика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79" y="5440679"/>
            <a:ext cx="3099816" cy="-164591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57287"/>
                </a:solidFill>
                <a:latin typeface="Arial"/>
              </a:rPr>
              <a:t>Контроль показателей и управленческие решения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510528"/>
            <a:ext cx="3657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1">
                <a:solidFill>
                  <a:srgbClr val="657287"/>
                </a:solidFill>
                <a:latin typeface="Arial"/>
              </a:rPr>
              <a:t>ПРОФТРЕК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57287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0467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2D66B3"/>
                </a:solidFill>
                <a:latin typeface="Arial"/>
              </a:rPr>
              <a:t>ОРГАНИЗАЦИОННАЯ МОДЕЛЬ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6984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7233B"/>
                </a:solidFill>
                <a:latin typeface="Arial"/>
              </a:rPr>
              <a:t>Как устроено взаимодействие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17233B"/>
          </a:solidFill>
          <a:ln>
            <a:solidFill>
              <a:srgbClr val="17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21408"/>
            <a:ext cx="24688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МИНИСТЕРСТВО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14600"/>
            <a:ext cx="246888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rial"/>
              </a:rPr>
              <a:t>сводные показатели
управленческие решения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92024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2D66B3"/>
          </a:solidFill>
          <a:ln>
            <a:solidFill>
              <a:srgbClr val="2D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2121408"/>
            <a:ext cx="24688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БАЗОВЫЙ ЦЕНТР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514600"/>
            <a:ext cx="246888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rial"/>
              </a:rPr>
              <a:t>методика · координация
вакансии · аналитика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192024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2A9172"/>
          </a:solidFill>
          <a:ln>
            <a:solidFill>
              <a:srgbClr val="2A91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2121408"/>
            <a:ext cx="24688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37 КОЛЛЕДЖЕЙ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514600"/>
            <a:ext cx="246888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rial"/>
              </a:rPr>
              <a:t>реестр · кураторы
индивидуальные планы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4434840"/>
            <a:ext cx="2743200" cy="1234440"/>
          </a:xfrm>
          <a:prstGeom prst="roundRect">
            <a:avLst>
              <a:gd name="adj" fmla="val 8000"/>
            </a:avLst>
          </a:prstGeom>
          <a:solidFill>
            <a:srgbClr val="D96B5D"/>
          </a:solidFill>
          <a:ln>
            <a:solidFill>
              <a:srgbClr val="D96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4636007"/>
            <a:ext cx="24688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РАБОТОДАТЕЛИ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5029200"/>
            <a:ext cx="246888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rial"/>
              </a:rPr>
              <a:t>вакансии · стажировки
обратная связь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4434840"/>
            <a:ext cx="2743200" cy="1234440"/>
          </a:xfrm>
          <a:prstGeom prst="roundRect">
            <a:avLst>
              <a:gd name="adj" fmla="val 8000"/>
            </a:avLst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4636007"/>
            <a:ext cx="24688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233B"/>
                </a:solidFill>
                <a:latin typeface="Arial"/>
              </a:rPr>
              <a:t>ВЫПУСКНИКИ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029200"/>
            <a:ext cx="246888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7233B"/>
                </a:solidFill>
                <a:latin typeface="Arial"/>
              </a:rPr>
              <a:t>профиль · маршрут
результат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11880" y="2395728"/>
            <a:ext cx="914400" cy="182880"/>
          </a:xfrm>
          <a:prstGeom prst="rect">
            <a:avLst/>
          </a:prstGeom>
          <a:solidFill>
            <a:srgbClr val="DFE5E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0" y="2395728"/>
            <a:ext cx="914400" cy="182880"/>
          </a:xfrm>
          <a:prstGeom prst="rect">
            <a:avLst/>
          </a:prstGeom>
          <a:solidFill>
            <a:srgbClr val="DFE5E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83480" y="3657600"/>
            <a:ext cx="182880" cy="594360"/>
          </a:xfrm>
          <a:prstGeom prst="rect">
            <a:avLst/>
          </a:prstGeom>
          <a:solidFill>
            <a:srgbClr val="DFE5E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59168" y="3657600"/>
            <a:ext cx="182880" cy="594360"/>
          </a:xfrm>
          <a:prstGeom prst="rect">
            <a:avLst/>
          </a:prstGeom>
          <a:solidFill>
            <a:srgbClr val="DFE5E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510528"/>
            <a:ext cx="3657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1">
                <a:solidFill>
                  <a:srgbClr val="657287"/>
                </a:solidFill>
                <a:latin typeface="Arial"/>
              </a:rPr>
              <a:t>ПРОФТРЕК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57287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0467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2D66B3"/>
                </a:solidFill>
                <a:latin typeface="Arial"/>
              </a:rPr>
              <a:t>РАЗГРАНИЧЕНИЕ ДОСТУПА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6984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7233B"/>
                </a:solidFill>
                <a:latin typeface="Arial"/>
              </a:rPr>
              <a:t>Три роли — три уровня ответственности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3493008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6968" y="178308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2A9172"/>
          </a:solidFill>
          <a:ln>
            <a:solidFill>
              <a:srgbClr val="2A91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947672"/>
            <a:ext cx="50292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514600"/>
            <a:ext cx="306324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7233B"/>
                </a:solidFill>
                <a:latin typeface="Arial"/>
              </a:rPr>
              <a:t>Руководитель центра карьеры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346704"/>
            <a:ext cx="30632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A9172"/>
                </a:solidFill>
                <a:latin typeface="Arial"/>
              </a:rPr>
              <a:t>Видит выпускников своего колледжа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4005072"/>
            <a:ext cx="3017520" cy="1280160"/>
          </a:xfrm>
          <a:prstGeom prst="rect">
            <a:avLst/>
          </a:prstGeom>
          <a:noFill/>
        </p:spPr>
        <p:txBody>
          <a:bodyPr wrap="none" lIns="54864" rIns="27432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657287"/>
                </a:solidFill>
                <a:latin typeface="Arial"/>
              </a:defRPr>
            </a:pPr>
            <a:r>
              <a:t>•  создает карточки</a:t>
            </a:r>
          </a:p>
          <a:p>
            <a:pPr>
              <a:spcAft>
                <a:spcPts val="700"/>
              </a:spcAft>
              <a:defRPr sz="1100">
                <a:solidFill>
                  <a:srgbClr val="657287"/>
                </a:solidFill>
                <a:latin typeface="Arial"/>
              </a:defRPr>
            </a:pPr>
            <a:r>
              <a:t>•  обновляет статусы</a:t>
            </a:r>
          </a:p>
          <a:p>
            <a:pPr>
              <a:spcAft>
                <a:spcPts val="700"/>
              </a:spcAft>
              <a:defRPr sz="1100">
                <a:solidFill>
                  <a:srgbClr val="657287"/>
                </a:solidFill>
                <a:latin typeface="Arial"/>
              </a:defRPr>
            </a:pPr>
            <a:r>
              <a:t>•  ведет индивидуальный план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1554480"/>
            <a:ext cx="3493008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54296" y="178308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2D66B3"/>
          </a:solidFill>
          <a:ln>
            <a:solidFill>
              <a:srgbClr val="2D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1947672"/>
            <a:ext cx="50292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514600"/>
            <a:ext cx="306324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7233B"/>
                </a:solidFill>
                <a:latin typeface="Arial"/>
              </a:rPr>
              <a:t>Базовый центр карьеры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3346704"/>
            <a:ext cx="30632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D66B3"/>
                </a:solidFill>
                <a:latin typeface="Arial"/>
              </a:rPr>
              <a:t>Видит общий региональный реестр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4005072"/>
            <a:ext cx="3017520" cy="1280160"/>
          </a:xfrm>
          <a:prstGeom prst="rect">
            <a:avLst/>
          </a:prstGeom>
          <a:noFill/>
        </p:spPr>
        <p:txBody>
          <a:bodyPr wrap="none" lIns="54864" rIns="27432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657287"/>
                </a:solidFill>
                <a:latin typeface="Arial"/>
              </a:defRPr>
            </a:pPr>
            <a:r>
              <a:t>•  координирует колледжи</a:t>
            </a:r>
          </a:p>
          <a:p>
            <a:pPr>
              <a:spcAft>
                <a:spcPts val="700"/>
              </a:spcAft>
              <a:defRPr sz="1100">
                <a:solidFill>
                  <a:srgbClr val="657287"/>
                </a:solidFill>
                <a:latin typeface="Arial"/>
              </a:defRPr>
            </a:pPr>
            <a:r>
              <a:t>•  проверяет вакансии</a:t>
            </a:r>
          </a:p>
          <a:p>
            <a:pPr>
              <a:spcAft>
                <a:spcPts val="700"/>
              </a:spcAft>
              <a:defRPr sz="1100">
                <a:solidFill>
                  <a:srgbClr val="657287"/>
                </a:solidFill>
                <a:latin typeface="Arial"/>
              </a:defRPr>
            </a:pPr>
            <a:r>
              <a:t>•  формирует аналитику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0456" y="1554480"/>
            <a:ext cx="3493008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21624" y="178308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17233B"/>
          </a:solidFill>
          <a:ln>
            <a:solidFill>
              <a:srgbClr val="17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21624" y="1947672"/>
            <a:ext cx="50292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1624" y="2514600"/>
            <a:ext cx="306324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7233B"/>
                </a:solidFill>
                <a:latin typeface="Arial"/>
              </a:rPr>
              <a:t>Министерство образования и науки ЛНР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3346704"/>
            <a:ext cx="30632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7233B"/>
                </a:solidFill>
                <a:latin typeface="Arial"/>
              </a:rPr>
              <a:t>Получает сводный просмотр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1624" y="4005072"/>
            <a:ext cx="3017520" cy="1280160"/>
          </a:xfrm>
          <a:prstGeom prst="rect">
            <a:avLst/>
          </a:prstGeom>
          <a:noFill/>
        </p:spPr>
        <p:txBody>
          <a:bodyPr wrap="none" lIns="54864" rIns="27432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657287"/>
                </a:solidFill>
                <a:latin typeface="Arial"/>
              </a:defRPr>
            </a:pPr>
            <a:r>
              <a:t>•  контролирует показатели</a:t>
            </a:r>
          </a:p>
          <a:p>
            <a:pPr>
              <a:spcAft>
                <a:spcPts val="700"/>
              </a:spcAft>
              <a:defRPr sz="1100">
                <a:solidFill>
                  <a:srgbClr val="657287"/>
                </a:solidFill>
                <a:latin typeface="Arial"/>
              </a:defRPr>
            </a:pPr>
            <a:r>
              <a:t>•  оценивает риски</a:t>
            </a:r>
          </a:p>
          <a:p>
            <a:pPr>
              <a:spcAft>
                <a:spcPts val="700"/>
              </a:spcAft>
              <a:defRPr sz="1100">
                <a:solidFill>
                  <a:srgbClr val="657287"/>
                </a:solidFill>
                <a:latin typeface="Arial"/>
              </a:defRPr>
            </a:pPr>
            <a:r>
              <a:t>•  принимает решения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510528"/>
            <a:ext cx="3657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1">
                <a:solidFill>
                  <a:srgbClr val="657287"/>
                </a:solidFill>
                <a:latin typeface="Arial"/>
              </a:rPr>
              <a:t>ПРОФТРЕК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57287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3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0467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F2C25B"/>
                </a:solidFill>
                <a:latin typeface="Arial"/>
              </a:rPr>
              <a:t>ПРОЦЕСС СОПРОВОЖДЕНИЯ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6984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Маршрут выпускника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057400"/>
            <a:ext cx="1627632" cy="2468880"/>
          </a:xfrm>
          <a:prstGeom prst="roundRect">
            <a:avLst>
              <a:gd name="adj" fmla="val 8000"/>
            </a:avLst>
          </a:prstGeom>
          <a:solidFill>
            <a:srgbClr val="1F304E"/>
          </a:solidFill>
          <a:ln>
            <a:solidFill>
              <a:srgbClr val="1F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67712"/>
            <a:ext cx="502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F2C25B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70632"/>
            <a:ext cx="1298448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Профиль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64992"/>
            <a:ext cx="1298448" cy="7772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B8C6DA"/>
                </a:solidFill>
                <a:latin typeface="Arial"/>
              </a:rPr>
              <a:t>колледж, профессия, контакты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971800"/>
            <a:ext cx="292608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2C25B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87168" y="2057400"/>
            <a:ext cx="1627632" cy="2468880"/>
          </a:xfrm>
          <a:prstGeom prst="roundRect">
            <a:avLst>
              <a:gd name="adj" fmla="val 8000"/>
            </a:avLst>
          </a:prstGeom>
          <a:solidFill>
            <a:srgbClr val="1F304E"/>
          </a:solidFill>
          <a:ln>
            <a:solidFill>
              <a:srgbClr val="1F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2267712"/>
            <a:ext cx="502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F2C25B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770632"/>
            <a:ext cx="1298448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Диагностика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364992"/>
            <a:ext cx="1298448" cy="7772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B8C6DA"/>
                </a:solidFill>
                <a:latin typeface="Arial"/>
              </a:rPr>
              <a:t>статус и уровень риска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971800"/>
            <a:ext cx="292608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2C25B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2057400"/>
            <a:ext cx="1627632" cy="2468880"/>
          </a:xfrm>
          <a:prstGeom prst="roundRect">
            <a:avLst>
              <a:gd name="adj" fmla="val 8000"/>
            </a:avLst>
          </a:prstGeom>
          <a:solidFill>
            <a:srgbClr val="1F304E"/>
          </a:solidFill>
          <a:ln>
            <a:solidFill>
              <a:srgbClr val="1F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267712"/>
            <a:ext cx="502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F2C25B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770632"/>
            <a:ext cx="1298448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364992"/>
            <a:ext cx="1298448" cy="7772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B8C6DA"/>
                </a:solidFill>
                <a:latin typeface="Arial"/>
              </a:rPr>
              <a:t>куратор, действия и сроки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971800"/>
            <a:ext cx="292608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2C25B"/>
                </a:solidFill>
                <a:latin typeface="Arial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7648" y="2057400"/>
            <a:ext cx="1627632" cy="2468880"/>
          </a:xfrm>
          <a:prstGeom prst="roundRect">
            <a:avLst>
              <a:gd name="adj" fmla="val 8000"/>
            </a:avLst>
          </a:prstGeom>
          <a:solidFill>
            <a:srgbClr val="1F304E"/>
          </a:solidFill>
          <a:ln>
            <a:solidFill>
              <a:srgbClr val="1F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267712"/>
            <a:ext cx="502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F2C25B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770632"/>
            <a:ext cx="1298448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Возможности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364992"/>
            <a:ext cx="1298448" cy="7772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B8C6DA"/>
                </a:solidFill>
                <a:latin typeface="Arial"/>
              </a:rPr>
              <a:t>вакансии, стажировки, обучение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2971800"/>
            <a:ext cx="292608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2C25B"/>
                </a:solidFill>
                <a:latin typeface="Arial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47888" y="2057400"/>
            <a:ext cx="1627632" cy="2468880"/>
          </a:xfrm>
          <a:prstGeom prst="roundRect">
            <a:avLst>
              <a:gd name="adj" fmla="val 8000"/>
            </a:avLst>
          </a:prstGeom>
          <a:solidFill>
            <a:srgbClr val="1F304E"/>
          </a:solidFill>
          <a:ln>
            <a:solidFill>
              <a:srgbClr val="1F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2267712"/>
            <a:ext cx="502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F2C25B"/>
                </a:solidFill>
                <a:latin typeface="Arial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770632"/>
            <a:ext cx="1298448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Трудоустройство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364992"/>
            <a:ext cx="1298448" cy="7772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B8C6DA"/>
                </a:solidFill>
                <a:latin typeface="Arial"/>
              </a:rPr>
              <a:t>работодатель, должность, дата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19" y="2971800"/>
            <a:ext cx="292608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2C25B"/>
                </a:solidFill>
                <a:latin typeface="Arial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68128" y="2057400"/>
            <a:ext cx="1627632" cy="2468880"/>
          </a:xfrm>
          <a:prstGeom prst="roundRect">
            <a:avLst>
              <a:gd name="adj" fmla="val 8000"/>
            </a:avLst>
          </a:prstGeom>
          <a:solidFill>
            <a:srgbClr val="1F304E"/>
          </a:solidFill>
          <a:ln>
            <a:solidFill>
              <a:srgbClr val="1F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19" y="2267712"/>
            <a:ext cx="502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F2C25B"/>
                </a:solidFill>
                <a:latin typeface="Arial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19" y="2770632"/>
            <a:ext cx="1298448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Контроль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19" y="3364992"/>
            <a:ext cx="1298448" cy="7772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B8C6DA"/>
                </a:solidFill>
                <a:latin typeface="Arial"/>
              </a:rPr>
              <a:t>проверка через 3, 6 и 12 месяцев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5166360"/>
            <a:ext cx="98755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2C25B"/>
                </a:solidFill>
                <a:latin typeface="Arial"/>
              </a:rPr>
              <a:t>Главный результат — не направление на вакансию, а подтвержденная устойчивая занятость.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510528"/>
            <a:ext cx="3657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1">
                <a:solidFill>
                  <a:srgbClr val="A7B2C4"/>
                </a:solidFill>
                <a:latin typeface="Arial"/>
              </a:rPr>
              <a:t>ПРОФТРЕК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1">
                <a:solidFill>
                  <a:srgbClr val="A7B2C4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0467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2D66B3"/>
                </a:solidFill>
                <a:latin typeface="Arial"/>
              </a:rPr>
              <a:t>ЕДИНЫЙ КЛАССИФИКАТОР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6984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7233B"/>
                </a:solidFill>
                <a:latin typeface="Arial"/>
              </a:rPr>
              <a:t>Статусы и приоритет сопровождения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51663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0392" y="1691639"/>
            <a:ext cx="137160" cy="502920"/>
          </a:xfrm>
          <a:prstGeom prst="roundRect">
            <a:avLst>
              <a:gd name="adj" fmla="val 8000"/>
            </a:avLst>
          </a:prstGeom>
          <a:solidFill>
            <a:srgbClr val="2D66B3"/>
          </a:solidFill>
          <a:ln>
            <a:solidFill>
              <a:srgbClr val="2D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783080"/>
            <a:ext cx="43891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7233B"/>
                </a:solidFill>
                <a:latin typeface="Arial"/>
              </a:rPr>
              <a:t>Ищет работу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508760"/>
            <a:ext cx="51663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36792" y="1691639"/>
            <a:ext cx="137160" cy="502920"/>
          </a:xfrm>
          <a:prstGeom prst="roundRect">
            <a:avLst>
              <a:gd name="adj" fmla="val 8000"/>
            </a:avLst>
          </a:prstGeom>
          <a:solidFill>
            <a:srgbClr val="2A9172"/>
          </a:solidFill>
          <a:ln>
            <a:solidFill>
              <a:srgbClr val="2A91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83080"/>
            <a:ext cx="43891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7233B"/>
                </a:solidFill>
                <a:latin typeface="Arial"/>
              </a:rPr>
              <a:t>Трудоустроен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51760"/>
            <a:ext cx="51663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0392" y="2834640"/>
            <a:ext cx="137160" cy="502920"/>
          </a:xfrm>
          <a:prstGeom prst="roundRect">
            <a:avLst>
              <a:gd name="adj" fmla="val 8000"/>
            </a:avLst>
          </a:prstGeom>
          <a:solidFill>
            <a:srgbClr val="657287"/>
          </a:solidFill>
          <a:ln>
            <a:solidFill>
              <a:srgbClr val="657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926079"/>
            <a:ext cx="43891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7233B"/>
                </a:solidFill>
                <a:latin typeface="Arial"/>
              </a:rPr>
              <a:t>Академический отпуск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651760"/>
            <a:ext cx="51663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36792" y="2834640"/>
            <a:ext cx="137160" cy="502920"/>
          </a:xfrm>
          <a:prstGeom prst="roundRect">
            <a:avLst>
              <a:gd name="adj" fmla="val 8000"/>
            </a:avLst>
          </a:prstGeom>
          <a:solidFill>
            <a:srgbClr val="17233B"/>
          </a:solidFill>
          <a:ln>
            <a:solidFill>
              <a:srgbClr val="17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926079"/>
            <a:ext cx="43891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7233B"/>
                </a:solidFill>
                <a:latin typeface="Arial"/>
              </a:rPr>
              <a:t>Служит в ВС РФ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94760"/>
            <a:ext cx="51663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0392" y="3977640"/>
            <a:ext cx="137160" cy="502920"/>
          </a:xfrm>
          <a:prstGeom prst="roundRect">
            <a:avLst>
              <a:gd name="adj" fmla="val 8000"/>
            </a:avLst>
          </a:prstGeom>
          <a:solidFill>
            <a:srgbClr val="D96B5D"/>
          </a:solidFill>
          <a:ln>
            <a:solidFill>
              <a:srgbClr val="D96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069080"/>
            <a:ext cx="43891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7233B"/>
                </a:solidFill>
                <a:latin typeface="Arial"/>
              </a:rPr>
              <a:t>Под риском нетрудоустройства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794760"/>
            <a:ext cx="51663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36792" y="3977640"/>
            <a:ext cx="137160" cy="502920"/>
          </a:xfrm>
          <a:prstGeom prst="roundRect">
            <a:avLst>
              <a:gd name="adj" fmla="val 8000"/>
            </a:avLst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069080"/>
            <a:ext cx="43891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7233B"/>
                </a:solidFill>
                <a:latin typeface="Arial"/>
              </a:rPr>
              <a:t>Переехал за пределы ЛНР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074920"/>
            <a:ext cx="10652760" cy="685800"/>
          </a:xfrm>
          <a:prstGeom prst="roundRect">
            <a:avLst>
              <a:gd name="adj" fmla="val 8000"/>
            </a:avLst>
          </a:prstGeom>
          <a:solidFill>
            <a:srgbClr val="E4EEFB"/>
          </a:solidFill>
          <a:ln>
            <a:solidFill>
              <a:srgbClr val="E4E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294376"/>
            <a:ext cx="1010412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2D66B3"/>
                </a:solidFill>
                <a:latin typeface="Arial"/>
              </a:rPr>
              <a:t>Статус «Трудоустроен» требует указать работодателя, должность и дату. Статус риска автоматически переводит выпускника в высокий приоритет.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510528"/>
            <a:ext cx="3657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1">
                <a:solidFill>
                  <a:srgbClr val="657287"/>
                </a:solidFill>
                <a:latin typeface="Arial"/>
              </a:rPr>
              <a:t>ПРОФТРЕК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57287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0467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2D66B3"/>
                </a:solidFill>
                <a:latin typeface="Arial"/>
              </a:rPr>
              <a:t>ИНФОРМАЦИОННАЯ МОДЕЛЬ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6984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7233B"/>
                </a:solidFill>
                <a:latin typeface="Arial"/>
              </a:rPr>
              <a:t>Единый реестр: минимально необходимые данные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72768"/>
            <a:ext cx="251460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72768"/>
            <a:ext cx="2514600" cy="658368"/>
          </a:xfrm>
          <a:prstGeom prst="roundRect">
            <a:avLst>
              <a:gd name="adj" fmla="val 8000"/>
            </a:avLst>
          </a:prstGeom>
          <a:solidFill>
            <a:srgbClr val="17233B"/>
          </a:solidFill>
          <a:ln>
            <a:solidFill>
              <a:srgbClr val="17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792224"/>
            <a:ext cx="21945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ИДЕНТИФИКАЦИЯ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560320"/>
            <a:ext cx="19659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7233B"/>
                </a:solidFill>
                <a:latin typeface="Arial"/>
              </a:rPr>
              <a:t>ФИО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154679"/>
            <a:ext cx="19659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7233B"/>
                </a:solidFill>
                <a:latin typeface="Arial"/>
              </a:rPr>
              <a:t>колледж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749039"/>
            <a:ext cx="19659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7233B"/>
                </a:solidFill>
                <a:latin typeface="Arial"/>
              </a:rPr>
              <a:t>профессия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4343400"/>
            <a:ext cx="19659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7233B"/>
                </a:solidFill>
                <a:latin typeface="Arial"/>
              </a:rPr>
              <a:t>год выпуска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1572768"/>
            <a:ext cx="251460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47288" y="1572768"/>
            <a:ext cx="2514600" cy="658368"/>
          </a:xfrm>
          <a:prstGeom prst="roundRect">
            <a:avLst>
              <a:gd name="adj" fmla="val 8000"/>
            </a:avLst>
          </a:prstGeom>
          <a:solidFill>
            <a:srgbClr val="2D66B3"/>
          </a:solidFill>
          <a:ln>
            <a:solidFill>
              <a:srgbClr val="2D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792224"/>
            <a:ext cx="21945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МАРШРУТ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560320"/>
            <a:ext cx="19659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7233B"/>
                </a:solidFill>
                <a:latin typeface="Arial"/>
              </a:rPr>
              <a:t>статус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154679"/>
            <a:ext cx="19659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7233B"/>
                </a:solidFill>
                <a:latin typeface="Arial"/>
              </a:rPr>
              <a:t>уровень риска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749039"/>
            <a:ext cx="19659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7233B"/>
                </a:solidFill>
                <a:latin typeface="Arial"/>
              </a:rPr>
              <a:t>куратор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4343400"/>
            <a:ext cx="19659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7233B"/>
                </a:solidFill>
                <a:latin typeface="Arial"/>
              </a:rPr>
              <a:t>следующий шаг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1572768"/>
            <a:ext cx="251460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08776" y="1572768"/>
            <a:ext cx="2514600" cy="658368"/>
          </a:xfrm>
          <a:prstGeom prst="roundRect">
            <a:avLst>
              <a:gd name="adj" fmla="val 8000"/>
            </a:avLst>
          </a:prstGeom>
          <a:solidFill>
            <a:srgbClr val="2A9172"/>
          </a:solidFill>
          <a:ln>
            <a:solidFill>
              <a:srgbClr val="2A91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1792224"/>
            <a:ext cx="21945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ТРУДОУСТРОЙСТВО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2560320"/>
            <a:ext cx="19659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7233B"/>
                </a:solidFill>
                <a:latin typeface="Arial"/>
              </a:rPr>
              <a:t>работодатель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3154679"/>
            <a:ext cx="19659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7233B"/>
                </a:solidFill>
                <a:latin typeface="Arial"/>
              </a:rPr>
              <a:t>должность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3749039"/>
            <a:ext cx="19659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7233B"/>
                </a:solidFill>
                <a:latin typeface="Arial"/>
              </a:rPr>
              <a:t>дата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4343400"/>
            <a:ext cx="19659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7233B"/>
                </a:solidFill>
                <a:latin typeface="Arial"/>
              </a:rPr>
              <a:t>сохранение работы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0264" y="1572768"/>
            <a:ext cx="251460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70264" y="1572768"/>
            <a:ext cx="2514600" cy="658368"/>
          </a:xfrm>
          <a:prstGeom prst="roundRect">
            <a:avLst>
              <a:gd name="adj" fmla="val 8000"/>
            </a:avLst>
          </a:prstGeom>
          <a:solidFill>
            <a:srgbClr val="D96B5D"/>
          </a:solidFill>
          <a:ln>
            <a:solidFill>
              <a:srgbClr val="D96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34856" y="1792224"/>
            <a:ext cx="21945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АНАЛИТИКА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2560320"/>
            <a:ext cx="19659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7233B"/>
                </a:solidFill>
                <a:latin typeface="Arial"/>
              </a:rPr>
              <a:t>контакты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6296" y="3154679"/>
            <a:ext cx="19659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7233B"/>
                </a:solidFill>
                <a:latin typeface="Arial"/>
              </a:rPr>
              <a:t>вакансии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3749039"/>
            <a:ext cx="19659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7233B"/>
                </a:solidFill>
                <a:latin typeface="Arial"/>
              </a:rPr>
              <a:t>результаты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6296" y="4343400"/>
            <a:ext cx="19659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7233B"/>
                </a:solidFill>
                <a:latin typeface="Arial"/>
              </a:rPr>
              <a:t>сроки сопровождения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510528"/>
            <a:ext cx="3657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1">
                <a:solidFill>
                  <a:srgbClr val="657287"/>
                </a:solidFill>
                <a:latin typeface="Arial"/>
              </a:rPr>
              <a:t>ПРОФТРЕК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57287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0467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2D66B3"/>
                </a:solidFill>
                <a:latin typeface="Arial"/>
              </a:rPr>
              <a:t>ПРОВЕРЕННЫЙ КАНАЛ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6984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7233B"/>
                </a:solidFill>
                <a:latin typeface="Arial"/>
              </a:rPr>
              <a:t>Вакансии без доступа работодателя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20574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4671" y="1856232"/>
            <a:ext cx="438912" cy="438912"/>
          </a:xfrm>
          <a:prstGeom prst="roundRect">
            <a:avLst>
              <a:gd name="adj" fmla="val 8000"/>
            </a:avLst>
          </a:prstGeom>
          <a:solidFill>
            <a:srgbClr val="2D66B3"/>
          </a:solidFill>
          <a:ln>
            <a:solidFill>
              <a:srgbClr val="2D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911095"/>
            <a:ext cx="438912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450592"/>
            <a:ext cx="1728216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7233B"/>
                </a:solidFill>
                <a:latin typeface="Arial"/>
              </a:rPr>
              <a:t>Открытая форма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926080"/>
            <a:ext cx="1728216" cy="18288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57287"/>
                </a:solidFill>
                <a:latin typeface="Arial"/>
              </a:rPr>
              <a:t>Работодатель заполняет предложение без регистрации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53511" y="1691640"/>
            <a:ext cx="20574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18103" y="1856232"/>
            <a:ext cx="438912" cy="438912"/>
          </a:xfrm>
          <a:prstGeom prst="roundRect">
            <a:avLst>
              <a:gd name="adj" fmla="val 8000"/>
            </a:avLst>
          </a:prstGeom>
          <a:solidFill>
            <a:srgbClr val="2D66B3"/>
          </a:solidFill>
          <a:ln>
            <a:solidFill>
              <a:srgbClr val="2D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18103" y="1911095"/>
            <a:ext cx="438912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18103" y="2450592"/>
            <a:ext cx="1728216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7233B"/>
                </a:solidFill>
                <a:latin typeface="Arial"/>
              </a:rPr>
              <a:t>Очередь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18103" y="2926080"/>
            <a:ext cx="1728216" cy="18288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57287"/>
                </a:solidFill>
                <a:latin typeface="Arial"/>
              </a:rPr>
              <a:t>Заявка поступает только базовому центру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66944" y="1691640"/>
            <a:ext cx="20574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31536" y="1856232"/>
            <a:ext cx="438912" cy="438912"/>
          </a:xfrm>
          <a:prstGeom prst="roundRect">
            <a:avLst>
              <a:gd name="adj" fmla="val 8000"/>
            </a:avLst>
          </a:prstGeom>
          <a:solidFill>
            <a:srgbClr val="2D66B3"/>
          </a:solidFill>
          <a:ln>
            <a:solidFill>
              <a:srgbClr val="2D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31536" y="1911095"/>
            <a:ext cx="438912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31536" y="2450592"/>
            <a:ext cx="1728216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7233B"/>
                </a:solidFill>
                <a:latin typeface="Arial"/>
              </a:rPr>
              <a:t>Проверка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31536" y="2926080"/>
            <a:ext cx="1728216" cy="18288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57287"/>
                </a:solidFill>
                <a:latin typeface="Arial"/>
              </a:rPr>
              <a:t>Организация, контакты, условия и срок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0375" y="1691640"/>
            <a:ext cx="20574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44967" y="1856232"/>
            <a:ext cx="438912" cy="438912"/>
          </a:xfrm>
          <a:prstGeom prst="roundRect">
            <a:avLst>
              <a:gd name="adj" fmla="val 8000"/>
            </a:avLst>
          </a:prstGeom>
          <a:solidFill>
            <a:srgbClr val="2A9172"/>
          </a:solidFill>
          <a:ln>
            <a:solidFill>
              <a:srgbClr val="2A91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44967" y="1911095"/>
            <a:ext cx="438912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44967" y="2450592"/>
            <a:ext cx="1728216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7233B"/>
                </a:solidFill>
                <a:latin typeface="Arial"/>
              </a:rPr>
              <a:t>Публикация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44967" y="2926080"/>
            <a:ext cx="1728216" cy="18288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57287"/>
                </a:solidFill>
                <a:latin typeface="Arial"/>
              </a:rPr>
              <a:t>Только подтвержденная вакансия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93807" y="1691640"/>
            <a:ext cx="20574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058399" y="1856232"/>
            <a:ext cx="438912" cy="438912"/>
          </a:xfrm>
          <a:prstGeom prst="roundRect">
            <a:avLst>
              <a:gd name="adj" fmla="val 8000"/>
            </a:avLst>
          </a:prstGeom>
          <a:solidFill>
            <a:srgbClr val="2A9172"/>
          </a:solidFill>
          <a:ln>
            <a:solidFill>
              <a:srgbClr val="2A91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399" y="1911095"/>
            <a:ext cx="438912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399" y="2450592"/>
            <a:ext cx="1728216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7233B"/>
                </a:solidFill>
                <a:latin typeface="Arial"/>
              </a:rPr>
              <a:t>Подбор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399" y="2926080"/>
            <a:ext cx="1728216" cy="18288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57287"/>
                </a:solidFill>
                <a:latin typeface="Arial"/>
              </a:rPr>
              <a:t>Кандидаты по профессии и условиям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230368"/>
            <a:ext cx="102412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D96B5D"/>
                </a:solidFill>
                <a:latin typeface="Arial"/>
              </a:rPr>
              <a:t>Отличие от «Работы России»: персональный подбор и контроль результата, а не массовая публикация объявлений.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510528"/>
            <a:ext cx="3657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1">
                <a:solidFill>
                  <a:srgbClr val="657287"/>
                </a:solidFill>
                <a:latin typeface="Arial"/>
              </a:rPr>
              <a:t>ПРОФТРЕК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57287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3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0467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F2C25B"/>
                </a:solidFill>
                <a:latin typeface="Arial"/>
              </a:rPr>
              <a:t>ЦИФРОВОЙ ПРОДУКТ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6984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Что уже реализовано в прототипе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81328"/>
            <a:ext cx="5166360" cy="621792"/>
          </a:xfrm>
          <a:prstGeom prst="roundRect">
            <a:avLst>
              <a:gd name="adj" fmla="val 8000"/>
            </a:avLst>
          </a:prstGeom>
          <a:solidFill>
            <a:srgbClr val="1F304E"/>
          </a:solidFill>
          <a:ln>
            <a:solidFill>
              <a:srgbClr val="1F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9536" y="1636776"/>
            <a:ext cx="310896" cy="310896"/>
          </a:xfrm>
          <a:prstGeom prst="roundRect">
            <a:avLst>
              <a:gd name="adj" fmla="val 8000"/>
            </a:avLst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700784"/>
            <a:ext cx="310896" cy="12801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17233B"/>
                </a:solidFill>
                <a:latin typeface="Arial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1673352"/>
            <a:ext cx="42976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Публичный сайт проекта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81328"/>
            <a:ext cx="5166360" cy="621792"/>
          </a:xfrm>
          <a:prstGeom prst="roundRect">
            <a:avLst>
              <a:gd name="adj" fmla="val 8000"/>
            </a:avLst>
          </a:prstGeom>
          <a:solidFill>
            <a:srgbClr val="1F304E"/>
          </a:solidFill>
          <a:ln>
            <a:solidFill>
              <a:srgbClr val="1F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91655" y="1636776"/>
            <a:ext cx="310896" cy="310896"/>
          </a:xfrm>
          <a:prstGeom prst="roundRect">
            <a:avLst>
              <a:gd name="adj" fmla="val 8000"/>
            </a:avLst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1655" y="1700784"/>
            <a:ext cx="310896" cy="12801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17233B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67144" y="1673352"/>
            <a:ext cx="42976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Реестр выпускников с фильтрами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50008"/>
            <a:ext cx="5166360" cy="621792"/>
          </a:xfrm>
          <a:prstGeom prst="roundRect">
            <a:avLst>
              <a:gd name="adj" fmla="val 8000"/>
            </a:avLst>
          </a:prstGeom>
          <a:solidFill>
            <a:srgbClr val="1F304E"/>
          </a:solidFill>
          <a:ln>
            <a:solidFill>
              <a:srgbClr val="1F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9536" y="2505456"/>
            <a:ext cx="310896" cy="310896"/>
          </a:xfrm>
          <a:prstGeom prst="roundRect">
            <a:avLst>
              <a:gd name="adj" fmla="val 8000"/>
            </a:avLst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2569464"/>
            <a:ext cx="310896" cy="12801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17233B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" y="2542032"/>
            <a:ext cx="42976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Карточка и индивидуальный план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350008"/>
            <a:ext cx="5166360" cy="621792"/>
          </a:xfrm>
          <a:prstGeom prst="roundRect">
            <a:avLst>
              <a:gd name="adj" fmla="val 8000"/>
            </a:avLst>
          </a:prstGeom>
          <a:solidFill>
            <a:srgbClr val="1F304E"/>
          </a:solidFill>
          <a:ln>
            <a:solidFill>
              <a:srgbClr val="1F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91655" y="2505456"/>
            <a:ext cx="310896" cy="310896"/>
          </a:xfrm>
          <a:prstGeom prst="roundRect">
            <a:avLst>
              <a:gd name="adj" fmla="val 8000"/>
            </a:avLst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5" y="2569464"/>
            <a:ext cx="310896" cy="12801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17233B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67144" y="2542032"/>
            <a:ext cx="42976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Шесть статусов выпускника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18688"/>
            <a:ext cx="5166360" cy="621792"/>
          </a:xfrm>
          <a:prstGeom prst="roundRect">
            <a:avLst>
              <a:gd name="adj" fmla="val 8000"/>
            </a:avLst>
          </a:prstGeom>
          <a:solidFill>
            <a:srgbClr val="1F304E"/>
          </a:solidFill>
          <a:ln>
            <a:solidFill>
              <a:srgbClr val="1F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9536" y="3374136"/>
            <a:ext cx="310896" cy="310896"/>
          </a:xfrm>
          <a:prstGeom prst="roundRect">
            <a:avLst>
              <a:gd name="adj" fmla="val 8000"/>
            </a:avLst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3438144"/>
            <a:ext cx="310896" cy="12801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17233B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5024" y="3410712"/>
            <a:ext cx="42976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Банк вакансий и умный подбор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218688"/>
            <a:ext cx="5166360" cy="621792"/>
          </a:xfrm>
          <a:prstGeom prst="roundRect">
            <a:avLst>
              <a:gd name="adj" fmla="val 8000"/>
            </a:avLst>
          </a:prstGeom>
          <a:solidFill>
            <a:srgbClr val="1F304E"/>
          </a:solidFill>
          <a:ln>
            <a:solidFill>
              <a:srgbClr val="1F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91655" y="3374136"/>
            <a:ext cx="310896" cy="310896"/>
          </a:xfrm>
          <a:prstGeom prst="roundRect">
            <a:avLst>
              <a:gd name="adj" fmla="val 8000"/>
            </a:avLst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5" y="3438144"/>
            <a:ext cx="310896" cy="12801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17233B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67144" y="3410712"/>
            <a:ext cx="42976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Форма работодателя без регистрации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087368"/>
            <a:ext cx="5166360" cy="621792"/>
          </a:xfrm>
          <a:prstGeom prst="roundRect">
            <a:avLst>
              <a:gd name="adj" fmla="val 8000"/>
            </a:avLst>
          </a:prstGeom>
          <a:solidFill>
            <a:srgbClr val="1F304E"/>
          </a:solidFill>
          <a:ln>
            <a:solidFill>
              <a:srgbClr val="1F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59536" y="4242816"/>
            <a:ext cx="310896" cy="310896"/>
          </a:xfrm>
          <a:prstGeom prst="roundRect">
            <a:avLst>
              <a:gd name="adj" fmla="val 8000"/>
            </a:avLst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4306824"/>
            <a:ext cx="310896" cy="12801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17233B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35024" y="4279392"/>
            <a:ext cx="42976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Очередь модерации вакансий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4087368"/>
            <a:ext cx="5166360" cy="621792"/>
          </a:xfrm>
          <a:prstGeom prst="roundRect">
            <a:avLst>
              <a:gd name="adj" fmla="val 8000"/>
            </a:avLst>
          </a:prstGeom>
          <a:solidFill>
            <a:srgbClr val="1F304E"/>
          </a:solidFill>
          <a:ln>
            <a:solidFill>
              <a:srgbClr val="1F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91655" y="4242816"/>
            <a:ext cx="310896" cy="310896"/>
          </a:xfrm>
          <a:prstGeom prst="roundRect">
            <a:avLst>
              <a:gd name="adj" fmla="val 8000"/>
            </a:avLst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91655" y="4306824"/>
            <a:ext cx="310896" cy="12801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17233B"/>
                </a:solidFill>
                <a:latin typeface="Arial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67144" y="4279392"/>
            <a:ext cx="42976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Три пользовательские роли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956048"/>
            <a:ext cx="5166360" cy="621792"/>
          </a:xfrm>
          <a:prstGeom prst="roundRect">
            <a:avLst>
              <a:gd name="adj" fmla="val 8000"/>
            </a:avLst>
          </a:prstGeom>
          <a:solidFill>
            <a:srgbClr val="1F304E"/>
          </a:solidFill>
          <a:ln>
            <a:solidFill>
              <a:srgbClr val="1F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59536" y="5111496"/>
            <a:ext cx="310896" cy="310896"/>
          </a:xfrm>
          <a:prstGeom prst="roundRect">
            <a:avLst>
              <a:gd name="adj" fmla="val 8000"/>
            </a:avLst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6" y="5175504"/>
            <a:ext cx="310896" cy="12801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17233B"/>
                </a:solidFill>
                <a:latin typeface="Arial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35024" y="5148072"/>
            <a:ext cx="42976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Аналитика и экспорт CSV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4956048"/>
            <a:ext cx="5166360" cy="621792"/>
          </a:xfrm>
          <a:prstGeom prst="roundRect">
            <a:avLst>
              <a:gd name="adj" fmla="val 8000"/>
            </a:avLst>
          </a:prstGeom>
          <a:solidFill>
            <a:srgbClr val="1F304E"/>
          </a:solidFill>
          <a:ln>
            <a:solidFill>
              <a:srgbClr val="1F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391655" y="5111496"/>
            <a:ext cx="310896" cy="310896"/>
          </a:xfrm>
          <a:prstGeom prst="roundRect">
            <a:avLst>
              <a:gd name="adj" fmla="val 8000"/>
            </a:avLst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91655" y="5175504"/>
            <a:ext cx="310896" cy="12801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17233B"/>
                </a:solidFill>
                <a:latin typeface="Arial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67144" y="5148072"/>
            <a:ext cx="42976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Адаптивная мобильная версия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6510528"/>
            <a:ext cx="3657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1">
                <a:solidFill>
                  <a:srgbClr val="A7B2C4"/>
                </a:solidFill>
                <a:latin typeface="Arial"/>
              </a:rPr>
              <a:t>ПРОФТРЕК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1">
                <a:solidFill>
                  <a:srgbClr val="A7B2C4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0467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2D66B3"/>
                </a:solidFill>
                <a:latin typeface="Arial"/>
              </a:rPr>
              <a:t>ИЗМЕРИМЫЙ РЕЗУЛЬТАТ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6984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7233B"/>
                </a:solidFill>
                <a:latin typeface="Arial"/>
              </a:rPr>
              <a:t>Целевые показатели первого года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340156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5256" y="1828800"/>
            <a:ext cx="2971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2D66B3"/>
                </a:solidFill>
                <a:latin typeface="Arial"/>
              </a:rPr>
              <a:t>95%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" y="2542032"/>
            <a:ext cx="29260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57287"/>
                </a:solidFill>
                <a:latin typeface="Arial"/>
              </a:rPr>
              <a:t>выпускников внесены в реестр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554480"/>
            <a:ext cx="340156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1828800"/>
            <a:ext cx="2971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2A9172"/>
                </a:solidFill>
                <a:latin typeface="Arial"/>
              </a:rPr>
              <a:t>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2856" y="2542032"/>
            <a:ext cx="29260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57287"/>
                </a:solidFill>
                <a:latin typeface="Arial"/>
              </a:rPr>
              <a:t>подтвержден контакт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554480"/>
            <a:ext cx="340156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0456" y="1828800"/>
            <a:ext cx="2971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D96B5D"/>
                </a:solidFill>
                <a:latin typeface="Arial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0456" y="2542032"/>
            <a:ext cx="29260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57287"/>
                </a:solidFill>
                <a:latin typeface="Arial"/>
              </a:rPr>
              <a:t>группы высокого риска с куратором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611880"/>
            <a:ext cx="340156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3886200"/>
            <a:ext cx="2971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F2C25B"/>
                </a:solidFill>
                <a:latin typeface="Arial"/>
              </a:rPr>
              <a:t>70%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4599432"/>
            <a:ext cx="29260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57287"/>
                </a:solidFill>
                <a:latin typeface="Arial"/>
              </a:rPr>
              <a:t>получили подходящее предложение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611880"/>
            <a:ext cx="340156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3886200"/>
            <a:ext cx="2971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17233B"/>
                </a:solidFill>
                <a:latin typeface="Arial"/>
              </a:rPr>
              <a:t>50–60%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4599432"/>
            <a:ext cx="29260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57287"/>
                </a:solidFill>
                <a:latin typeface="Arial"/>
              </a:rPr>
              <a:t>группы риска трудоустроены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3611880"/>
            <a:ext cx="340156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0456" y="3886200"/>
            <a:ext cx="2971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2D66B3"/>
                </a:solidFill>
                <a:latin typeface="Arial"/>
              </a:rPr>
              <a:t>100+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6" y="4599432"/>
            <a:ext cx="29260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57287"/>
                </a:solidFill>
                <a:latin typeface="Arial"/>
              </a:rPr>
              <a:t>активных работодателей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623560"/>
            <a:ext cx="100584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7233B"/>
                </a:solidFill>
                <a:latin typeface="Arial"/>
              </a:rPr>
              <a:t>Показатель засчитывается только после подтверждения фактического результата.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510528"/>
            <a:ext cx="3657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1">
                <a:solidFill>
                  <a:srgbClr val="657287"/>
                </a:solidFill>
                <a:latin typeface="Arial"/>
              </a:rPr>
              <a:t>ПРОФТРЕК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57287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0467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2D66B3"/>
                </a:solidFill>
                <a:latin typeface="Arial"/>
              </a:rPr>
              <a:t>ДОРОЖНАЯ КАРТА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6984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7233B"/>
                </a:solidFill>
                <a:latin typeface="Arial"/>
              </a:rPr>
              <a:t>План внедрения на 12 месяцев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251460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75688"/>
            <a:ext cx="20574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900" b="1">
                <a:solidFill>
                  <a:srgbClr val="2D66B3"/>
                </a:solidFill>
                <a:latin typeface="Arial"/>
              </a:rPr>
              <a:t>1–2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70048"/>
            <a:ext cx="20574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657287"/>
                </a:solidFill>
                <a:latin typeface="Arial"/>
              </a:rPr>
              <a:t>месяцы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27248"/>
            <a:ext cx="20574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7233B"/>
                </a:solidFill>
                <a:latin typeface="Arial"/>
              </a:rPr>
              <a:t>Подготовка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2057400" cy="6858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57287"/>
                </a:solidFill>
                <a:latin typeface="Arial"/>
              </a:rPr>
              <a:t>регламенты · ответственные
справочники · обучение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828800"/>
            <a:ext cx="251460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075688"/>
            <a:ext cx="20574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900" b="1">
                <a:solidFill>
                  <a:srgbClr val="2A9172"/>
                </a:solidFill>
                <a:latin typeface="Arial"/>
              </a:rPr>
              <a:t>3–5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670048"/>
            <a:ext cx="20574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657287"/>
                </a:solidFill>
                <a:latin typeface="Arial"/>
              </a:rPr>
              <a:t>месяцы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127248"/>
            <a:ext cx="20574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7233B"/>
                </a:solidFill>
                <a:latin typeface="Arial"/>
              </a:rPr>
              <a:t>Пилот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794760"/>
            <a:ext cx="2057400" cy="6858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57287"/>
                </a:solidFill>
                <a:latin typeface="Arial"/>
              </a:rPr>
              <a:t>6–8 колледжей
реестр · сопровождение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828800"/>
            <a:ext cx="251460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075688"/>
            <a:ext cx="20574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900" b="1">
                <a:solidFill>
                  <a:srgbClr val="F2C25B"/>
                </a:solidFill>
                <a:latin typeface="Arial"/>
              </a:rPr>
              <a:t>6–10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70048"/>
            <a:ext cx="20574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657287"/>
                </a:solidFill>
                <a:latin typeface="Arial"/>
              </a:rPr>
              <a:t>месяцы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127248"/>
            <a:ext cx="20574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7233B"/>
                </a:solidFill>
                <a:latin typeface="Arial"/>
              </a:rPr>
              <a:t>Масштабирование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794760"/>
            <a:ext cx="2057400" cy="6858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57287"/>
                </a:solidFill>
                <a:latin typeface="Arial"/>
              </a:rPr>
              <a:t>37 колледжей
работодатели · вакансии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59" y="1828800"/>
            <a:ext cx="251460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59" y="2075688"/>
            <a:ext cx="20574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900" b="1">
                <a:solidFill>
                  <a:srgbClr val="D96B5D"/>
                </a:solidFill>
                <a:latin typeface="Arial"/>
              </a:rPr>
              <a:t>11–12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59" y="2670048"/>
            <a:ext cx="20574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657287"/>
                </a:solidFill>
                <a:latin typeface="Arial"/>
              </a:rPr>
              <a:t>месяцы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59" y="3127248"/>
            <a:ext cx="20574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7233B"/>
                </a:solidFill>
                <a:latin typeface="Arial"/>
              </a:rPr>
              <a:t>Оценка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59" y="3794760"/>
            <a:ext cx="2057400" cy="6858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57287"/>
                </a:solidFill>
                <a:latin typeface="Arial"/>
              </a:rPr>
              <a:t>аудит показателей
решение о постоянной работе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510528"/>
            <a:ext cx="3657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1">
                <a:solidFill>
                  <a:srgbClr val="657287"/>
                </a:solidFill>
                <a:latin typeface="Arial"/>
              </a:rPr>
              <a:t>ПРОФТРЕК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57287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0467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2D66B3"/>
                </a:solidFill>
                <a:latin typeface="Arial"/>
              </a:rPr>
              <a:t>УПРАВЛЕНИЕ РИСКАМИ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6984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7233B"/>
                </a:solidFill>
                <a:latin typeface="Arial"/>
              </a:rPr>
              <a:t>Ключевые риски и обязательные условия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81328"/>
            <a:ext cx="106527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82496"/>
            <a:ext cx="11430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00" b="1">
                <a:solidFill>
                  <a:srgbClr val="D96B5D"/>
                </a:solidFill>
                <a:latin typeface="Arial"/>
              </a:rPr>
              <a:t>КРИТИЧЕСКИЙ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645920"/>
            <a:ext cx="329184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7233B"/>
                </a:solidFill>
                <a:latin typeface="Arial"/>
              </a:rPr>
              <a:t>Локальное хранение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1655064"/>
            <a:ext cx="52120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57287"/>
                </a:solidFill>
                <a:latin typeface="Arial"/>
              </a:rPr>
              <a:t>До запуска — защищенная серверная база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22576"/>
            <a:ext cx="106527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23744"/>
            <a:ext cx="11430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00" b="1">
                <a:solidFill>
                  <a:srgbClr val="D96B5D"/>
                </a:solidFill>
                <a:latin typeface="Arial"/>
              </a:rPr>
              <a:t>ВЫСОКИЙ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487168"/>
            <a:ext cx="329184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7233B"/>
                </a:solidFill>
                <a:latin typeface="Arial"/>
              </a:rPr>
              <a:t>Недостоверные статусы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2496312"/>
            <a:ext cx="52120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57287"/>
                </a:solidFill>
                <a:latin typeface="Arial"/>
              </a:rPr>
              <a:t>Дата подтверждения и выборочный аудит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163824"/>
            <a:ext cx="106527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64992"/>
            <a:ext cx="11430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00" b="1">
                <a:solidFill>
                  <a:srgbClr val="F2C25B"/>
                </a:solidFill>
                <a:latin typeface="Arial"/>
              </a:rPr>
              <a:t>ВЫСОКИЙ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328416"/>
            <a:ext cx="329184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7233B"/>
                </a:solidFill>
                <a:latin typeface="Arial"/>
              </a:rPr>
              <a:t>Низкая активность колледжей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3337560"/>
            <a:ext cx="52120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57287"/>
                </a:solidFill>
                <a:latin typeface="Arial"/>
              </a:rPr>
              <a:t>Показатели, обучение и контроль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005072"/>
            <a:ext cx="106527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06240"/>
            <a:ext cx="11430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00" b="1">
                <a:solidFill>
                  <a:srgbClr val="F2C25B"/>
                </a:solidFill>
                <a:latin typeface="Arial"/>
              </a:rPr>
              <a:t>ВЫСОКИЙ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169664"/>
            <a:ext cx="329184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7233B"/>
                </a:solidFill>
                <a:latin typeface="Arial"/>
              </a:rPr>
              <a:t>Недостаток вакансий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4178808"/>
            <a:ext cx="52120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57287"/>
                </a:solidFill>
                <a:latin typeface="Arial"/>
              </a:rPr>
              <a:t>Форма работодателя и партнерская сеть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846320"/>
            <a:ext cx="106527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47488"/>
            <a:ext cx="11430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00" b="1">
                <a:solidFill>
                  <a:srgbClr val="D96B5D"/>
                </a:solidFill>
                <a:latin typeface="Arial"/>
              </a:rPr>
              <a:t>ВЫСОКИЙ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5010912"/>
            <a:ext cx="329184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7233B"/>
                </a:solidFill>
                <a:latin typeface="Arial"/>
              </a:rPr>
              <a:t>Утечка персональных данных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5020056"/>
            <a:ext cx="52120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57287"/>
                </a:solidFill>
                <a:latin typeface="Arial"/>
              </a:rPr>
              <a:t>Авторизация, роли и журналирование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510528"/>
            <a:ext cx="3657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1">
                <a:solidFill>
                  <a:srgbClr val="657287"/>
                </a:solidFill>
                <a:latin typeface="Arial"/>
              </a:rPr>
              <a:t>ПРОФТРЕК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57287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3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0467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F2C25B"/>
                </a:solidFill>
                <a:latin typeface="Arial"/>
              </a:rPr>
              <a:t>РЕЗУЛЬТАТ ДЛЯ РЕГИОНА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6984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Ожидаемый эффект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166360" cy="1143000"/>
          </a:xfrm>
          <a:prstGeom prst="roundRect">
            <a:avLst>
              <a:gd name="adj" fmla="val 8000"/>
            </a:avLst>
          </a:prstGeom>
          <a:solidFill>
            <a:srgbClr val="1F304E"/>
          </a:solidFill>
          <a:ln>
            <a:solidFill>
              <a:srgbClr val="1F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13258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2C25B"/>
                </a:solidFill>
                <a:latin typeface="Arial"/>
              </a:rPr>
              <a:t>Выпускник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1618488"/>
            <a:ext cx="3246120" cy="51206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получает понятный маршрут и адресную поддержку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166360" cy="1143000"/>
          </a:xfrm>
          <a:prstGeom prst="roundRect">
            <a:avLst>
              <a:gd name="adj" fmla="val 8000"/>
            </a:avLst>
          </a:prstGeom>
          <a:solidFill>
            <a:srgbClr val="1F304E"/>
          </a:solidFill>
          <a:ln>
            <a:solidFill>
              <a:srgbClr val="1F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27632"/>
            <a:ext cx="13258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2C25B"/>
                </a:solidFill>
                <a:latin typeface="Arial"/>
              </a:rPr>
              <a:t>Колледж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618488"/>
            <a:ext cx="3246120" cy="51206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видит результат подготовки и сохраняет контакт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5166360" cy="1143000"/>
          </a:xfrm>
          <a:prstGeom prst="roundRect">
            <a:avLst>
              <a:gd name="adj" fmla="val 8000"/>
            </a:avLst>
          </a:prstGeom>
          <a:solidFill>
            <a:srgbClr val="1F304E"/>
          </a:solidFill>
          <a:ln>
            <a:solidFill>
              <a:srgbClr val="1F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44952"/>
            <a:ext cx="13258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2C25B"/>
                </a:solidFill>
                <a:latin typeface="Arial"/>
              </a:rPr>
              <a:t>Работодатель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3035808"/>
            <a:ext cx="3246120" cy="51206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получает проверенных молодых специалистов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834640"/>
            <a:ext cx="5166360" cy="1143000"/>
          </a:xfrm>
          <a:prstGeom prst="roundRect">
            <a:avLst>
              <a:gd name="adj" fmla="val 8000"/>
            </a:avLst>
          </a:prstGeom>
          <a:solidFill>
            <a:srgbClr val="1F304E"/>
          </a:solidFill>
          <a:ln>
            <a:solidFill>
              <a:srgbClr val="1F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044952"/>
            <a:ext cx="13258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2C25B"/>
                </a:solidFill>
                <a:latin typeface="Arial"/>
              </a:rPr>
              <a:t>Регион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035808"/>
            <a:ext cx="3246120" cy="51206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получает достоверную аналитику и кадровый резерв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663440"/>
            <a:ext cx="9921240" cy="960120"/>
          </a:xfrm>
          <a:prstGeom prst="roundRect">
            <a:avLst>
              <a:gd name="adj" fmla="val 8000"/>
            </a:avLst>
          </a:prstGeom>
          <a:solidFill>
            <a:srgbClr val="F2C25B"/>
          </a:solidFill>
          <a:ln>
            <a:solidFill>
              <a:srgbClr val="F2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4956048"/>
            <a:ext cx="918972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7233B"/>
                </a:solidFill>
                <a:latin typeface="Arial"/>
              </a:rPr>
              <a:t>Решение: утвердить пилот, определить 6–8 колледжей и начать формирование защищенного регионального реестра.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925312"/>
            <a:ext cx="94183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B8C6DA"/>
                </a:solidFill>
                <a:latin typeface="Arial"/>
              </a:rPr>
              <a:t>ПрофТрек: ни один выпускник не остается без следующего шага.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510528"/>
            <a:ext cx="3657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1">
                <a:solidFill>
                  <a:srgbClr val="A7B2C4"/>
                </a:solidFill>
                <a:latin typeface="Arial"/>
              </a:rPr>
              <a:t>ПРОФТРЕК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1">
                <a:solidFill>
                  <a:srgbClr val="A7B2C4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ПрофТрек — от диплома к профессии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