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D8E970"/>
                </a:solidFill>
                <a:latin typeface="Arial"/>
              </a:defRPr>
            </a:pPr>
            <a:r>
              <a:t>РЕГИОНАЛЬНЫЙ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D8E97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БюроНет СПО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D8E970"/>
          </a:solidFill>
          <a:ln>
            <a:solidFill>
              <a:srgbClr val="D8E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A9C8BF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7772400" cy="11430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Arial"/>
              </a:defRPr>
            </a:pPr>
            <a:r>
              <a:t>Цифровой агент по снижению бюрократической нагрузки в профессиональных образовательных организациях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148840" cy="2148840"/>
          </a:xfrm>
          <a:prstGeom prst="roundRect">
            <a:avLst/>
          </a:prstGeom>
          <a:solidFill>
            <a:srgbClr val="D8E970"/>
          </a:solidFill>
          <a:ln>
            <a:solidFill>
              <a:srgbClr val="D8E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2029968"/>
            <a:ext cx="150876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4100" b="1">
                <a:solidFill>
                  <a:srgbClr val="174B43"/>
                </a:solidFill>
                <a:latin typeface="Georgia"/>
              </a:defRPr>
            </a:pPr>
            <a:r>
              <a:t>БН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21808"/>
            <a:ext cx="64008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B9D0C9"/>
                </a:solidFill>
                <a:latin typeface="Arial"/>
              </a:defRPr>
            </a:pPr>
            <a:r>
              <a:t>Луганская Народная Республика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Время уходит не на образование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82B2B"/>
                </a:solidFill>
                <a:latin typeface="Arial"/>
              </a:defRPr>
            </a:pPr>
            <a:r>
              <a:t>•  Одни и те же сведения запрашиваются в разных формах</a:t>
            </a:r>
          </a:p>
          <a:p>
            <a:pPr>
              <a:spcAft>
                <a:spcPts val="1100"/>
              </a:spcAft>
              <a:defRPr sz="1800">
                <a:solidFill>
                  <a:srgbClr val="182B2B"/>
                </a:solidFill>
                <a:latin typeface="Arial"/>
              </a:defRPr>
            </a:pPr>
            <a:r>
              <a:t>•  Сотрудники вручную ищут, переносят и сверяют данные</a:t>
            </a:r>
          </a:p>
          <a:p>
            <a:pPr>
              <a:spcAft>
                <a:spcPts val="1100"/>
              </a:spcAft>
              <a:defRPr sz="1800">
                <a:solidFill>
                  <a:srgbClr val="182B2B"/>
                </a:solidFill>
                <a:latin typeface="Arial"/>
              </a:defRPr>
            </a:pPr>
            <a:r>
              <a:t>•  Сроки и требования находятся в письмах и таблицах</a:t>
            </a:r>
          </a:p>
          <a:p>
            <a:pPr>
              <a:spcAft>
                <a:spcPts val="1100"/>
              </a:spcAft>
              <a:defRPr sz="1800">
                <a:solidFill>
                  <a:srgbClr val="182B2B"/>
                </a:solidFill>
                <a:latin typeface="Arial"/>
              </a:defRPr>
            </a:pPr>
            <a:r>
              <a:t>•  Регион не видит реальную стоимость каждого запроса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828800"/>
            <a:ext cx="4251960" cy="3337560"/>
          </a:xfrm>
          <a:prstGeom prst="roundRect">
            <a:avLst/>
          </a:prstGeom>
          <a:solidFill>
            <a:srgbClr val="174B43"/>
          </a:solidFill>
          <a:ln>
            <a:solidFill>
              <a:srgbClr val="17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240280"/>
            <a:ext cx="9144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Запрос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41148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000" b="1">
                <a:solidFill>
                  <a:srgbClr val="D8E97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80"/>
            <a:ext cx="9144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Таблица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194560"/>
            <a:ext cx="41148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000" b="1">
                <a:solidFill>
                  <a:srgbClr val="D8E97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240280"/>
            <a:ext cx="7772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Письмо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154680"/>
            <a:ext cx="3474720" cy="1371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100" b="1">
                <a:solidFill>
                  <a:srgbClr val="D8E970"/>
                </a:solidFill>
                <a:latin typeface="Georgia"/>
              </a:defRPr>
            </a:pPr>
            <a:r>
              <a:t>Повторный ввод</a:t>
            </a:r>
            <a:br/>
            <a:r>
              <a:t>Расхождения версий</a:t>
            </a:r>
            <a:br/>
            <a:r>
              <a:t>Риск просрочки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ИЗМЕРИМЫЙ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Цель первого года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5156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200" b="1">
                <a:solidFill>
                  <a:srgbClr val="182B2B"/>
                </a:solidFill>
                <a:latin typeface="Georgia"/>
              </a:defRPr>
            </a:pPr>
            <a:r>
              <a:t>Сократить административную нагрузку без снижения качества и достоверности управленческих данных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306324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136392"/>
            <a:ext cx="273405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174B43"/>
                </a:solidFill>
                <a:latin typeface="Georgia"/>
              </a:defRPr>
            </a:pPr>
            <a:r>
              <a:t>−40%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675887"/>
            <a:ext cx="273405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время подготовки типового ответа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971800"/>
            <a:ext cx="306324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3136392"/>
            <a:ext cx="273405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DC725F"/>
                </a:solidFill>
                <a:latin typeface="Georgia"/>
              </a:defRPr>
            </a:pPr>
            <a:r>
              <a:t>−25%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75887"/>
            <a:ext cx="273405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количество повторных запросов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71800"/>
            <a:ext cx="306324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136392"/>
            <a:ext cx="273405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22675B"/>
                </a:solidFill>
                <a:latin typeface="Georgia"/>
              </a:defRPr>
            </a:pPr>
            <a: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75887"/>
            <a:ext cx="273405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документов без проверки человеком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Не новый отчет, а единое окно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3756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0292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22675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3969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Arial"/>
              </a:defRPr>
            </a:pPr>
            <a:r>
              <a:t>Основание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50292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22675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13969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Arial"/>
              </a:defRPr>
            </a:pPr>
            <a:r>
              <a:t>Срок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3756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011680"/>
            <a:ext cx="50292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22675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213969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Arial"/>
              </a:defRPr>
            </a:pPr>
            <a:r>
              <a:t>Показатели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333756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50292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22675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4845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Arial"/>
              </a:defRPr>
            </a:pPr>
            <a:r>
              <a:t>Источник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337560"/>
            <a:ext cx="333756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520440"/>
            <a:ext cx="50292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22675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64845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Arial"/>
              </a:defRPr>
            </a:pPr>
            <a:r>
              <a:t>Ответственный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337560"/>
            <a:ext cx="333756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3520440"/>
            <a:ext cx="50292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200" b="1">
                <a:solidFill>
                  <a:srgbClr val="22675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3648456"/>
            <a:ext cx="22860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Arial"/>
              </a:defRPr>
            </a:pPr>
            <a:r>
              <a:t>История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60704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174B43"/>
                </a:solidFill>
                <a:latin typeface="Arial"/>
              </a:defRPr>
            </a:pPr>
            <a:r>
              <a:t>Каждый запрос становится управляемой задачей, а не новым письмом в общей папке.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СКВОЗНОЙ ПРОЦЕСС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Как работает цифровой агент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1536192" cy="1298448"/>
          </a:xfrm>
          <a:prstGeom prst="roundRect">
            <a:avLst/>
          </a:prstGeom>
          <a:solidFill>
            <a:srgbClr val="FFFDF8"/>
          </a:solidFill>
          <a:ln>
            <a:solidFill>
              <a:srgbClr val="CA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596896"/>
            <a:ext cx="1316736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200" b="1">
                <a:solidFill>
                  <a:srgbClr val="182B2B"/>
                </a:solidFill>
                <a:latin typeface="Arial"/>
              </a:defRPr>
            </a:pPr>
            <a:r>
              <a:t>Запрос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2679192"/>
            <a:ext cx="320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7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240280"/>
            <a:ext cx="1536192" cy="1298448"/>
          </a:xfrm>
          <a:prstGeom prst="roundRect">
            <a:avLst/>
          </a:prstGeom>
          <a:solidFill>
            <a:srgbClr val="FFFDF8"/>
          </a:solidFill>
          <a:ln>
            <a:solidFill>
              <a:srgbClr val="CA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596896"/>
            <a:ext cx="1316736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200" b="1">
                <a:solidFill>
                  <a:srgbClr val="182B2B"/>
                </a:solidFill>
                <a:latin typeface="Arial"/>
              </a:defRPr>
            </a:pPr>
            <a:r>
              <a:t>Извлечение</a:t>
            </a:r>
            <a:br/>
            <a:r>
              <a:t>требований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679192"/>
            <a:ext cx="320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7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40280"/>
            <a:ext cx="1536192" cy="1298448"/>
          </a:xfrm>
          <a:prstGeom prst="roundRect">
            <a:avLst/>
          </a:prstGeom>
          <a:solidFill>
            <a:srgbClr val="D9EEE1"/>
          </a:solidFill>
          <a:ln>
            <a:solidFill>
              <a:srgbClr val="CA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596896"/>
            <a:ext cx="1316736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200" b="1">
                <a:solidFill>
                  <a:srgbClr val="182B2B"/>
                </a:solidFill>
                <a:latin typeface="Arial"/>
              </a:defRPr>
            </a:pPr>
            <a:r>
              <a:t>Поиск</a:t>
            </a:r>
            <a:br/>
            <a:r>
              <a:t>совпадений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679192"/>
            <a:ext cx="320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7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240280"/>
            <a:ext cx="1536192" cy="1298448"/>
          </a:xfrm>
          <a:prstGeom prst="roundRect">
            <a:avLst/>
          </a:prstGeom>
          <a:solidFill>
            <a:srgbClr val="D9EEE1"/>
          </a:solidFill>
          <a:ln>
            <a:solidFill>
              <a:srgbClr val="CA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596896"/>
            <a:ext cx="1316736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200" b="1">
                <a:solidFill>
                  <a:srgbClr val="182B2B"/>
                </a:solidFill>
                <a:latin typeface="Arial"/>
              </a:defRPr>
            </a:pPr>
            <a:r>
              <a:t>Заполнение</a:t>
            </a:r>
            <a:br/>
            <a:r>
              <a:t>из источников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679192"/>
            <a:ext cx="320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7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240280"/>
            <a:ext cx="1536192" cy="1298448"/>
          </a:xfrm>
          <a:prstGeom prst="roundRect">
            <a:avLst/>
          </a:prstGeom>
          <a:solidFill>
            <a:srgbClr val="D8E970"/>
          </a:solidFill>
          <a:ln>
            <a:solidFill>
              <a:srgbClr val="CA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596896"/>
            <a:ext cx="1316736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200" b="1">
                <a:solidFill>
                  <a:srgbClr val="182B2B"/>
                </a:solidFill>
                <a:latin typeface="Arial"/>
              </a:defRPr>
            </a:pPr>
            <a:r>
              <a:t>Проверка</a:t>
            </a:r>
            <a:br/>
            <a:r>
              <a:t>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679192"/>
            <a:ext cx="3200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7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240280"/>
            <a:ext cx="1536192" cy="1298448"/>
          </a:xfrm>
          <a:prstGeom prst="roundRect">
            <a:avLst/>
          </a:prstGeom>
          <a:solidFill>
            <a:srgbClr val="FFFDF8"/>
          </a:solidFill>
          <a:ln>
            <a:solidFill>
              <a:srgbClr val="CA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3848" y="2596896"/>
            <a:ext cx="1316736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200" b="1">
                <a:solidFill>
                  <a:srgbClr val="182B2B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700" b="1">
                <a:solidFill>
                  <a:srgbClr val="174B43"/>
                </a:solidFill>
                <a:latin typeface="Georgia"/>
              </a:defRPr>
            </a:pPr>
            <a:r>
              <a:t>Источник каждого значения и решение сотрудника сохраняются в журнале.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ПРАКТИЧЕСКАЯ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Главный сценарий: остановить дубль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69748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1">
                <a:solidFill>
                  <a:srgbClr val="6D7D79"/>
                </a:solidFill>
                <a:latin typeface="Arial"/>
              </a:defRPr>
            </a:pPr>
            <a:r>
              <a:t>НОВЫЙ ЗАПРОС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6974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300" b="1">
                <a:solidFill>
                  <a:srgbClr val="182B2B"/>
                </a:solidFill>
                <a:latin typeface="Georgia"/>
              </a:defRPr>
            </a:pPr>
            <a:r>
              <a:t>Сведения о</a:t>
            </a:r>
            <a:br/>
            <a:r>
              <a:t>контингенте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26974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8 показателей  •  срок 24 часа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971800"/>
            <a:ext cx="45720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6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28800"/>
            <a:ext cx="6446520" cy="3337560"/>
          </a:xfrm>
          <a:prstGeom prst="roundRect">
            <a:avLst/>
          </a:prstGeom>
          <a:solidFill>
            <a:srgbClr val="174B43"/>
          </a:solidFill>
          <a:ln>
            <a:solidFill>
              <a:srgbClr val="17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148840"/>
            <a:ext cx="530352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1">
                <a:solidFill>
                  <a:srgbClr val="D8E970"/>
                </a:solidFill>
                <a:latin typeface="Arial"/>
              </a:defRPr>
            </a:pPr>
            <a:r>
              <a:t>АГЕНТ НАШЕЛ СОВПАДЕНИЕ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743200"/>
            <a:ext cx="5212080" cy="10515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Georgia"/>
              </a:defRPr>
            </a:pPr>
            <a:r>
              <a:t>100% показателей уже переданы</a:t>
            </a:r>
            <a:br/>
            <a:r>
              <a:t>в форме СПО-1 от 18 сентября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251960"/>
            <a:ext cx="5212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B9D0C9"/>
                </a:solidFill>
                <a:latin typeface="Arial"/>
              </a:defRPr>
            </a:pPr>
            <a:r>
              <a:t>Ссылка на источник  •  сравнение периодов  •  проект ответа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ПОЛЬЗОВАТЕЛЬСКИЙ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Что получает сотрудник ПОО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82B2B"/>
                </a:solidFill>
                <a:latin typeface="Arial"/>
              </a:defRPr>
            </a:pPr>
            <a:r>
              <a:t>•  Единый список задач и сроков</a:t>
            </a:r>
          </a:p>
          <a:p>
            <a:pPr>
              <a:spcAft>
                <a:spcPts val="1100"/>
              </a:spcAft>
              <a:defRPr sz="1900">
                <a:solidFill>
                  <a:srgbClr val="182B2B"/>
                </a:solidFill>
                <a:latin typeface="Arial"/>
              </a:defRPr>
            </a:pPr>
            <a:r>
              <a:t>•  Готовый черновик вместо пустой формы</a:t>
            </a:r>
          </a:p>
          <a:p>
            <a:pPr>
              <a:spcAft>
                <a:spcPts val="1100"/>
              </a:spcAft>
              <a:defRPr sz="1900">
                <a:solidFill>
                  <a:srgbClr val="182B2B"/>
                </a:solidFill>
                <a:latin typeface="Arial"/>
              </a:defRPr>
            </a:pPr>
            <a:r>
              <a:t>•  Источник каждого значения</a:t>
            </a:r>
          </a:p>
          <a:p>
            <a:pPr>
              <a:spcAft>
                <a:spcPts val="1100"/>
              </a:spcAft>
              <a:defRPr sz="1900">
                <a:solidFill>
                  <a:srgbClr val="182B2B"/>
                </a:solidFill>
                <a:latin typeface="Arial"/>
              </a:defRPr>
            </a:pPr>
            <a:r>
              <a:t>•  Предупреждение о расхождениях</a:t>
            </a:r>
          </a:p>
          <a:p>
            <a:pPr>
              <a:spcAft>
                <a:spcPts val="1100"/>
              </a:spcAft>
              <a:defRPr sz="1900">
                <a:solidFill>
                  <a:srgbClr val="182B2B"/>
                </a:solidFill>
                <a:latin typeface="Arial"/>
              </a:defRPr>
            </a:pPr>
            <a:r>
              <a:t>•  Меньше повторного ввода и ручной сверки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83080"/>
            <a:ext cx="4709160" cy="3566160"/>
          </a:xfrm>
          <a:prstGeom prst="roundRect">
            <a:avLst/>
          </a:prstGeom>
          <a:solidFill>
            <a:srgbClr val="174B43"/>
          </a:solidFill>
          <a:ln>
            <a:solidFill>
              <a:srgbClr val="17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331720"/>
            <a:ext cx="384048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3000" b="1">
                <a:solidFill>
                  <a:srgbClr val="D8E970"/>
                </a:solidFill>
                <a:latin typeface="Georgia"/>
              </a:defRPr>
            </a:pPr>
            <a:r>
              <a:t>36,5 часа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063240"/>
            <a:ext cx="38404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высвобождено за месяц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977639"/>
            <a:ext cx="384048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800" b="0">
                <a:solidFill>
                  <a:srgbClr val="B9D0C9"/>
                </a:solidFill>
                <a:latin typeface="Georgia"/>
              </a:defRPr>
            </a:pPr>
            <a:r>
              <a:t>Время возвращается</a:t>
            </a:r>
            <a:br/>
            <a:r>
              <a:t>основной работе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УПРАВЛЕНЧЕСКИЙ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Что получает регион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074920" cy="1188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02536"/>
            <a:ext cx="448056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74B43"/>
                </a:solidFill>
                <a:latin typeface="Georgia"/>
              </a:defRPr>
            </a:pPr>
            <a:r>
              <a:t>Карта нагрузки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78024"/>
            <a:ext cx="44805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по ПОО и подразделениям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74920" cy="1188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02536"/>
            <a:ext cx="448056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74B43"/>
                </a:solidFill>
                <a:latin typeface="Georgia"/>
              </a:defRPr>
            </a:pPr>
            <a:r>
              <a:t>Рейтинг запросов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78024"/>
            <a:ext cx="44805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повторных и трудоемких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074920" cy="1188720"/>
          </a:xfrm>
          <a:prstGeom prst="roundRect">
            <a:avLst/>
          </a:prstGeom>
          <a:solidFill>
            <a:srgbClr val="D9EEE1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448056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74B43"/>
                </a:solidFill>
                <a:latin typeface="Georgia"/>
              </a:defRPr>
            </a:pPr>
            <a:r>
              <a:t>Реестр решений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78224"/>
            <a:ext cx="44805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отмена и объединение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83280"/>
            <a:ext cx="5074920" cy="1188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02736"/>
            <a:ext cx="448056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74B43"/>
                </a:solidFill>
                <a:latin typeface="Georgia"/>
              </a:defRPr>
            </a:pPr>
            <a:r>
              <a:t>Контроль сроков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78224"/>
            <a:ext cx="44805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без дополнительных таблиц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60704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500" b="1">
                <a:solidFill>
                  <a:srgbClr val="174B43"/>
                </a:solidFill>
                <a:latin typeface="Arial"/>
              </a:defRPr>
            </a:pPr>
            <a:r>
              <a:t>Эффект измеряется в часах, исключенных операциях и сокращенных запросах.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ДОВЕРИЕ И КОНТРОЛЬ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Безопасность по умолчанию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423160" cy="3063240"/>
          </a:xfrm>
          <a:prstGeom prst="roundRect">
            <a:avLst/>
          </a:prstGeom>
          <a:solidFill>
            <a:srgbClr val="174B43"/>
          </a:solidFill>
          <a:ln>
            <a:solidFill>
              <a:srgbClr val="17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4572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D8E97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1965960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Georgia"/>
              </a:defRPr>
            </a:pPr>
            <a:r>
              <a:t>Человек решает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196596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B9D0C9"/>
                </a:solidFill>
                <a:latin typeface="Arial"/>
              </a:defRPr>
            </a:pPr>
            <a:r>
              <a:t>Агент готовит, сотрудник подтверждает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920240"/>
            <a:ext cx="2423160" cy="30632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176272"/>
            <a:ext cx="4572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743200"/>
            <a:ext cx="1965960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Georgia"/>
              </a:defRPr>
            </a:pPr>
            <a:r>
              <a:t>Источник виден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3703320"/>
            <a:ext cx="196596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Каждый вывод можно проверить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920240"/>
            <a:ext cx="2423160" cy="30632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176272"/>
            <a:ext cx="4572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743200"/>
            <a:ext cx="1965960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Georgia"/>
              </a:defRPr>
            </a:pPr>
            <a:r>
              <a:t>Контур защищен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3703320"/>
            <a:ext cx="196596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ПДн не уходят в публичные сервисы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920240"/>
            <a:ext cx="2423160" cy="30632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176272"/>
            <a:ext cx="45720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743200"/>
            <a:ext cx="1965960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182B2B"/>
                </a:solidFill>
                <a:latin typeface="Georgia"/>
              </a:defRPr>
            </a:pPr>
            <a:r>
              <a:t>Действия записаны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703320"/>
            <a:ext cx="196596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0">
                <a:solidFill>
                  <a:srgbClr val="6D7D79"/>
                </a:solidFill>
                <a:latin typeface="Arial"/>
              </a:defRPr>
            </a:pPr>
            <a:r>
              <a:t>Версии и решения доступны для аудита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ПРОВЕРКА ГИПОТЕЗЫ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Региональный пилот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2316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209397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174B43"/>
                </a:solidFill>
                <a:latin typeface="Georgia"/>
              </a:defRPr>
            </a:pPr>
            <a:r>
              <a:t>5-7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32888"/>
            <a:ext cx="209397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профессиональных организаций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42316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993392"/>
            <a:ext cx="209397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DC725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32888"/>
            <a:ext cx="209397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наиболее трудоемких сценария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42316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93392"/>
            <a:ext cx="209397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22675B"/>
                </a:solidFill>
                <a:latin typeface="Georgia"/>
              </a:defRPr>
            </a:pPr>
            <a:r>
              <a:t>8 недель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532888"/>
            <a:ext cx="209397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опытной эксплуатации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828800"/>
            <a:ext cx="242316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993392"/>
            <a:ext cx="2093976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400" b="1">
                <a:solidFill>
                  <a:srgbClr val="F2B45E"/>
                </a:solidFill>
                <a:latin typeface="Georgia"/>
              </a:defRPr>
            </a:pPr>
            <a:r>
              <a:t>2 замера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532888"/>
            <a:ext cx="2093976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000" b="0">
                <a:solidFill>
                  <a:srgbClr val="6D7D79"/>
                </a:solidFill>
                <a:latin typeface="Arial"/>
              </a:defRPr>
            </a:pPr>
            <a:r>
              <a:t>до и после внедрения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977639"/>
            <a:ext cx="1005840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000" b="1">
                <a:solidFill>
                  <a:srgbClr val="174B43"/>
                </a:solidFill>
                <a:latin typeface="Georgia"/>
              </a:defRPr>
            </a:pPr>
            <a:r>
              <a:t>Начинаем с проверки дублей и подготовки типового ответа. Масштабируем только после подтвержденного эффекта.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ПОКАЗАТЕЛИ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Целевой эффект пилота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011680" cy="2331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532888"/>
            <a:ext cx="1792224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300" b="1">
                <a:solidFill>
                  <a:srgbClr val="174B43"/>
                </a:solidFill>
                <a:latin typeface="Georgia"/>
              </a:defRPr>
            </a:pPr>
            <a:r>
              <a:t>−30%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310128"/>
            <a:ext cx="1682496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100" b="1">
                <a:solidFill>
                  <a:srgbClr val="6D7D79"/>
                </a:solidFill>
                <a:latin typeface="Arial"/>
              </a:defRPr>
            </a:pPr>
            <a:r>
              <a:t>время ответа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011680"/>
            <a:ext cx="2011680" cy="2331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2532888"/>
            <a:ext cx="1792224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300" b="1">
                <a:solidFill>
                  <a:srgbClr val="174B43"/>
                </a:solidFill>
                <a:latin typeface="Georgia"/>
              </a:defRPr>
            </a:pPr>
            <a:r>
              <a:t>−15%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310128"/>
            <a:ext cx="1682496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100" b="1">
                <a:solidFill>
                  <a:srgbClr val="6D7D79"/>
                </a:solidFill>
                <a:latin typeface="Arial"/>
              </a:defRPr>
            </a:pPr>
            <a:r>
              <a:t>повторные запросы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2011680"/>
            <a:ext cx="2011680" cy="2331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2532888"/>
            <a:ext cx="1792224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300" b="1">
                <a:solidFill>
                  <a:srgbClr val="174B43"/>
                </a:solidFill>
                <a:latin typeface="Georgia"/>
              </a:defRPr>
            </a:pPr>
            <a:r>
              <a:t>≥50%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310128"/>
            <a:ext cx="1682496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100" b="1">
                <a:solidFill>
                  <a:srgbClr val="6D7D79"/>
                </a:solidFill>
                <a:latin typeface="Arial"/>
              </a:defRPr>
            </a:pPr>
            <a:r>
              <a:t>полей из источников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4" y="2011680"/>
            <a:ext cx="2011680" cy="233172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2532888"/>
            <a:ext cx="1792224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300" b="1">
                <a:solidFill>
                  <a:srgbClr val="174B43"/>
                </a:solidFill>
                <a:latin typeface="Georgia"/>
              </a:defRPr>
            </a:pPr>
            <a:r>
              <a:t>≥85%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3310128"/>
            <a:ext cx="1682496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100" b="1">
                <a:solidFill>
                  <a:srgbClr val="6D7D79"/>
                </a:solidFill>
                <a:latin typeface="Arial"/>
              </a:defRPr>
            </a:pPr>
            <a:r>
              <a:t>точность поиска дублей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0072" y="2011680"/>
            <a:ext cx="2011680" cy="2331720"/>
          </a:xfrm>
          <a:prstGeom prst="roundRect">
            <a:avLst/>
          </a:prstGeom>
          <a:solidFill>
            <a:srgbClr val="174B43"/>
          </a:solidFill>
          <a:ln>
            <a:solidFill>
              <a:srgbClr val="17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532888"/>
            <a:ext cx="1792224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2300" b="1">
                <a:solidFill>
                  <a:srgbClr val="D8E970"/>
                </a:solidFill>
                <a:latin typeface="Georgia"/>
              </a:defRPr>
            </a:pPr>
            <a: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3310128"/>
            <a:ext cx="1682496" cy="5029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без проверки человеком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500" b="1">
                <a:solidFill>
                  <a:srgbClr val="174B43"/>
                </a:solidFill>
                <a:latin typeface="Arial"/>
              </a:defRPr>
            </a:pPr>
            <a:r>
              <a:t>Решение о тиражировании принимается по фактическим данным пилота.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22675B"/>
                </a:solidFill>
                <a:latin typeface="Arial"/>
              </a:defRPr>
            </a:pPr>
            <a:r>
              <a:t>12 МЕСЯЦЕВ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22675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182B2B"/>
                </a:solidFill>
                <a:latin typeface="Georgia"/>
              </a:defRPr>
            </a:pPr>
            <a:r>
              <a:t>Дорожная карта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22675B"/>
          </a:solidFill>
          <a:ln>
            <a:solidFill>
              <a:srgbClr val="226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6D7D79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536192" cy="196596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304288"/>
            <a:ext cx="3657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788920"/>
            <a:ext cx="123444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300" b="1">
                <a:solidFill>
                  <a:srgbClr val="182B2B"/>
                </a:solidFill>
                <a:latin typeface="Georgia"/>
              </a:defRPr>
            </a:pPr>
            <a:r>
              <a:t>Обследование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547872"/>
            <a:ext cx="12344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000" b="1">
                <a:solidFill>
                  <a:srgbClr val="6D7D79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880360"/>
            <a:ext cx="310896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103120"/>
            <a:ext cx="1536192" cy="196596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2304288"/>
            <a:ext cx="3657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788920"/>
            <a:ext cx="123444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300" b="1">
                <a:solidFill>
                  <a:srgbClr val="182B2B"/>
                </a:solidFill>
                <a:latin typeface="Georgia"/>
              </a:defRPr>
            </a:pPr>
            <a:r>
              <a:t>Проектирование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3547872"/>
            <a:ext cx="12344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000" b="1">
                <a:solidFill>
                  <a:srgbClr val="6D7D79"/>
                </a:solidFill>
                <a:latin typeface="Arial"/>
              </a:defRPr>
            </a:pPr>
            <a:r>
              <a:t>2 мес.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880360"/>
            <a:ext cx="310896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103120"/>
            <a:ext cx="1536192" cy="196596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2304288"/>
            <a:ext cx="3657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788920"/>
            <a:ext cx="123444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300" b="1">
                <a:solidFill>
                  <a:srgbClr val="182B2B"/>
                </a:solidFill>
                <a:latin typeface="Georgia"/>
              </a:defRPr>
            </a:pPr>
            <a:r>
              <a:t>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547872"/>
            <a:ext cx="12344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000" b="1">
                <a:solidFill>
                  <a:srgbClr val="6D7D79"/>
                </a:solidFill>
                <a:latin typeface="Arial"/>
              </a:defRPr>
            </a:pPr>
            <a:r>
              <a:t>3 мес.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880360"/>
            <a:ext cx="310896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103120"/>
            <a:ext cx="1536192" cy="196596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304288"/>
            <a:ext cx="3657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788920"/>
            <a:ext cx="123444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300" b="1">
                <a:solidFill>
                  <a:srgbClr val="182B2B"/>
                </a:solidFill>
                <a:latin typeface="Georgia"/>
              </a:defRPr>
            </a:pPr>
            <a:r>
              <a:t>Подготовка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547872"/>
            <a:ext cx="12344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000" b="1">
                <a:solidFill>
                  <a:srgbClr val="6D7D79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880360"/>
            <a:ext cx="310896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103120"/>
            <a:ext cx="1536192" cy="1965960"/>
          </a:xfrm>
          <a:prstGeom prst="roundRect">
            <a:avLst/>
          </a:prstGeom>
          <a:solidFill>
            <a:srgbClr val="174B43"/>
          </a:solidFill>
          <a:ln>
            <a:solidFill>
              <a:srgbClr val="17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2304288"/>
            <a:ext cx="3657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D8E9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2788920"/>
            <a:ext cx="123444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Пилот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547872"/>
            <a:ext cx="12344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000" b="1">
                <a:solidFill>
                  <a:srgbClr val="B9D0C9"/>
                </a:solidFill>
                <a:latin typeface="Arial"/>
              </a:defRPr>
            </a:pPr>
            <a:r>
              <a:t>2 мес.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2880360"/>
            <a:ext cx="310896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22675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103120"/>
            <a:ext cx="1536192" cy="1965960"/>
          </a:xfrm>
          <a:prstGeom prst="roundRect">
            <a:avLst/>
          </a:prstGeom>
          <a:solidFill>
            <a:srgbClr val="FFFDF8"/>
          </a:solidFill>
          <a:ln>
            <a:solidFill>
              <a:srgbClr val="DE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0424" y="2304288"/>
            <a:ext cx="3657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100" b="1">
                <a:solidFill>
                  <a:srgbClr val="22675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0424" y="2788920"/>
            <a:ext cx="123444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300" b="1">
                <a:solidFill>
                  <a:srgbClr val="182B2B"/>
                </a:solidFill>
                <a:latin typeface="Georgia"/>
              </a:defRPr>
            </a:pPr>
            <a:r>
              <a:t>Тиражирование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3547872"/>
            <a:ext cx="12344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000" b="1">
                <a:solidFill>
                  <a:srgbClr val="6D7D79"/>
                </a:solidFill>
                <a:latin typeface="Arial"/>
              </a:defRPr>
            </a:pPr>
            <a:r>
              <a:t>3 мес.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900" b="1">
                <a:solidFill>
                  <a:srgbClr val="D8E970"/>
                </a:solidFill>
                <a:latin typeface="Arial"/>
              </a:defRPr>
            </a:pPr>
            <a:r>
              <a:t>ЗАПУСК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5943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>
              <a:defRPr sz="1000" b="1">
                <a:solidFill>
                  <a:srgbClr val="D8E97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6858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Следующий шаг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914400" cy="54864"/>
          </a:xfrm>
          <a:prstGeom prst="rect">
            <a:avLst/>
          </a:prstGeom>
          <a:solidFill>
            <a:srgbClr val="D8E970"/>
          </a:solidFill>
          <a:ln>
            <a:solidFill>
              <a:srgbClr val="D8E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236208"/>
            <a:ext cx="56692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800" b="1">
                <a:solidFill>
                  <a:srgbClr val="A9C8BF"/>
                </a:solidFill>
                <a:latin typeface="Arial"/>
              </a:defRPr>
            </a:pPr>
            <a:r>
              <a:t>БЮРОНЕТ СПО  /  РЕГИОНАЛЬНЫЙ ЦИФРОВОЙ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114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D8E970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93268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Назначить куратора и регионального координатора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114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D8E970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93268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Выбрать 5-7 пилотных ПОО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4114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1700" b="1">
                <a:solidFill>
                  <a:srgbClr val="D8E97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03320"/>
            <a:ext cx="93268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Провести четырехнедельный замер фактической нагрузки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0607040" cy="777240"/>
          </a:xfrm>
          <a:prstGeom prst="roundRect">
            <a:avLst/>
          </a:prstGeom>
          <a:solidFill>
            <a:srgbClr val="D8E970"/>
          </a:solidFill>
          <a:ln>
            <a:solidFill>
              <a:srgbClr val="D8E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47488"/>
            <a:ext cx="1005840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>
              <a:defRPr sz="1600" b="1">
                <a:solidFill>
                  <a:srgbClr val="174B43"/>
                </a:solidFill>
                <a:latin typeface="Georgia"/>
              </a:defRPr>
            </a:pPr>
            <a:r>
              <a:t>Сначала измерить. Затем упростить. Только потом автоматизировать.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